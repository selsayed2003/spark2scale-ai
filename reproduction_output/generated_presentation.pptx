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we're here to talk about a challenge that affects a beloved industry: the bakery. While bakeries bring joy with their delicious creations, many face significant hurdles. The core issue lies in the inherent variability of manual baking processes, leading to inconsistent quality. This, coupled with rising operational costs, labor shortages, and the challenge of accurately predicting customer demand, creates a perfect storm of inefficiency and lost potential. We believe there's a smarter way to bake.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Introducing BakeAI, our innovative solution designed to transform the bakery industry. BakeAI leverages artificial intelligence to bring precision and predictability to the baking process. Our system automates recipe execution, ensuring every batch is as perfect as the last. Crucially, our predictive analytics engine forecasts demand with remarkable accuracy, allowing bakeries to manage inventory efficiently, reduce waste by up to 30%, and maximize sales. This data-driven approach not only guarantees consistent product quality but also streamlines operations, leading to a more profitable business, with potential efficiency gains of up to 20%.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market for baked goods is substantial and continues to expand. With a global valuation exceeding $200 billion, there's a massive opportunity. Beyond this, the broader Food Tech market, particularly AI-driven solutions, is experiencing explosive growth – projected to reach $15 billion by 2028 at a 35% CAGR. Consumers today are more discerning than ever, seeking out high-quality, artisanal products. Simultaneously, the broader food service industry is rapidly embracing technological advancements to improve efficiency and customer experience. BakeAI is perfectly positioned at the intersection of these powerful trends.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sets BakeAI apart? Our competitive advantage lies in our proprietary AI algorithms, which are built on unique machine learning models trained on vast datasets of baking parameters, delivering an unparalleled level of precision. We've designed BakeAI for seamless integration; our system connects easily via API to existing Point-of-Sale and inventory management software, meaning bakeries can adopt our technology without a complete overhaul of their operations. Our solution is scalable, catering to both small independent bakeries and larger chains. Importantly, our technology is designed to augment and enhance the skill of bakers, preserving the artisanal quality that customers love, rather than replacing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business model is centered around a flexible SaaS subscription, offering tiered pricing that scales with the bakery's size and feature needs. For example, our Basic plan starts at $99/month, Pro at $249/month, with custom Enterprise pricing available. To ensure a smooth market entry and gather valuable insights, we will implement targeted pilot programs with key industry partners, focusing on beloved artisanal bakeries and growing local chains like 'The Flour Pot' and 'Local Loaf Co.'. Furthermore, we plan to leverage channel partnerships with established bakery equipment suppliers such as Hobart and Rational, as well as industry consultants, to broaden our reach and accelerate adoption.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BakeAI is a team of passionate experts with a unique blend of skills. Our leadership comprises seasoned professionals in Artificial Intelligence, Food Science, and Business Development, bringing a deep understanding of both the technological possibilities and the practical realities of bakery operations. We have a proven track record of scaling innovative technology solutions and are committed to the success of our bakery partners.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not just offering a product; we are offering a vision for the future of baking. A future where quality is guaranteed, efficiency is maximized, and the joy of freshly baked goods is more accessible than ever. We invite you to join us in this exciting journey. BakeAI: Deliciously precise. Consistently perfect. We encourage you to request a personalized demo to see BakeAI in action and to schedule a discussion about potential partnership opportunities. Let's transform your bakery together.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270000" y="2540000"/>
            <a:ext cx="13741400" cy="1905000"/>
          </a:xfrm>
          <a:prstGeom prst="rect">
            <a:avLst/>
          </a:prstGeom>
          <a:noFill/>
        </p:spPr>
        <p:txBody>
          <a:bodyPr wrap="square" lIns="0" rIns="0" tIns="0" bIns="0">
            <a:spAutoFit/>
          </a:bodyPr>
          <a:lstStyle/>
          <a:p>
            <a:pPr algn="ctr">
              <a:defRPr i="0" sz="6000" b="1">
                <a:solidFill>
                  <a:srgbClr val="000000"/>
                </a:solidFill>
                <a:latin typeface="Arial"/>
              </a:defRPr>
            </a:pPr>
            <a:r>
              <a:rPr i="0" sz="6000" b="1">
                <a:solidFill>
                  <a:srgbClr val="000000"/>
                </a:solidFill>
                <a:latin typeface="Arial"/>
              </a:rPr>
              <a:t>BakeAI: Revolutionizing the Bakery Experience</a:t>
            </a:r>
          </a:p>
        </p:txBody>
      </p:sp>
      <p:sp>
        <p:nvSpPr>
          <p:cNvPr id="3" name="TextBox 2"/>
          <p:cNvSpPr txBox="1"/>
          <p:nvPr/>
        </p:nvSpPr>
        <p:spPr>
          <a:xfrm>
            <a:off x="1270000" y="5080000"/>
            <a:ext cx="13741400" cy="635000"/>
          </a:xfrm>
          <a:prstGeom prst="rect">
            <a:avLst/>
          </a:prstGeom>
          <a:noFill/>
        </p:spPr>
        <p:txBody>
          <a:bodyPr wrap="square" lIns="0" rIns="0" tIns="0" bIns="0">
            <a:spAutoFit/>
          </a:bodyPr>
          <a:lstStyle/>
          <a:p>
            <a:pPr algn="ctr">
              <a:defRPr i="0" sz="2400" b="0">
                <a:solidFill>
                  <a:srgbClr val="666666"/>
                </a:solidFill>
                <a:latin typeface="Arial"/>
              </a:defRPr>
            </a:pPr>
            <a:r>
              <a:rPr i="0" sz="2400" b="0">
                <a:solidFill>
                  <a:srgbClr val="666666"/>
                </a:solidFill>
                <a:latin typeface="Arial"/>
              </a:rPr>
              <a:t>Generated by Spark2Scale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5000" y="508000"/>
            <a:ext cx="15011400" cy="1016000"/>
          </a:xfrm>
          <a:prstGeom prst="rect">
            <a:avLst/>
          </a:prstGeom>
          <a:noFill/>
        </p:spPr>
        <p:txBody>
          <a:bodyPr wrap="square" lIns="0" rIns="0" tIns="0" bIns="0">
            <a:spAutoFit/>
          </a:bodyPr>
          <a:lstStyle/>
          <a:p>
            <a:pPr>
              <a:defRPr i="0" sz="4000" b="1">
                <a:solidFill>
                  <a:srgbClr val="000000"/>
                </a:solidFill>
                <a:latin typeface="Arial"/>
              </a:defRPr>
            </a:pPr>
            <a:r>
              <a:rPr i="0" sz="4000" b="1">
                <a:solidFill>
                  <a:srgbClr val="000000"/>
                </a:solidFill>
                <a:latin typeface="Arial"/>
              </a:rPr>
              <a:t>The Problem: Inconsistency and Inefficiency in Bakeries</a:t>
            </a:r>
          </a:p>
        </p:txBody>
      </p:sp>
      <p:sp>
        <p:nvSpPr>
          <p:cNvPr id="3" name="TextBox 2"/>
          <p:cNvSpPr txBox="1"/>
          <p:nvPr/>
        </p:nvSpPr>
        <p:spPr>
          <a:xfrm>
            <a:off x="635000" y="1778000"/>
            <a:ext cx="15011400" cy="6350000"/>
          </a:xfrm>
          <a:prstGeom prst="rect">
            <a:avLst/>
          </a:prstGeom>
          <a:noFill/>
        </p:spPr>
        <p:txBody>
          <a:bodyPr wrap="square" lIns="0" rIns="0" tIns="0" bIns="0">
            <a:spAutoFit/>
          </a:bodyPr>
          <a:lstStyle/>
          <a:p>
            <a:pPr>
              <a:spcBef>
                <a:spcPts val="0"/>
              </a:spcBef>
              <a:spcAft>
                <a:spcPts val="1000"/>
              </a:spcAft>
              <a:defRPr i="0" sz="2400" b="0">
                <a:solidFill>
                  <a:srgbClr val="000000"/>
                </a:solidFill>
                <a:latin typeface="Arial"/>
              </a:defRPr>
            </a:pPr>
            <a:r>
              <a:rPr i="0" sz="2400" b="0">
                <a:solidFill>
                  <a:srgbClr val="000000"/>
                </a:solidFill>
                <a:latin typeface="Arial"/>
              </a:rPr>
              <a:t>• Traditional bakeries struggle with inconsistent product quality due to manual processes.</a:t>
            </a:r>
          </a:p>
          <a:p>
            <a:pPr>
              <a:spcBef>
                <a:spcPts val="0"/>
              </a:spcBef>
              <a:spcAft>
                <a:spcPts val="1000"/>
              </a:spcAft>
              <a:defRPr i="0" sz="2400" b="0">
                <a:solidFill>
                  <a:srgbClr val="000000"/>
                </a:solidFill>
                <a:latin typeface="Arial"/>
              </a:defRPr>
            </a:pPr>
            <a:r>
              <a:rPr i="0" sz="2400" b="0">
                <a:solidFill>
                  <a:srgbClr val="000000"/>
                </a:solidFill>
                <a:latin typeface="Arial"/>
              </a:rPr>
              <a:t>• High operational costs and labor shortages impact profitability.</a:t>
            </a:r>
          </a:p>
          <a:p>
            <a:pPr>
              <a:spcBef>
                <a:spcPts val="0"/>
              </a:spcBef>
              <a:spcAft>
                <a:spcPts val="1000"/>
              </a:spcAft>
              <a:defRPr i="0" sz="2400" b="0">
                <a:solidFill>
                  <a:srgbClr val="000000"/>
                </a:solidFill>
                <a:latin typeface="Arial"/>
              </a:defRPr>
            </a:pPr>
            <a:r>
              <a:rPr i="0" sz="2400" b="0">
                <a:solidFill>
                  <a:srgbClr val="000000"/>
                </a:solidFill>
                <a:latin typeface="Arial"/>
              </a:rPr>
              <a:t>• Difficulty in predicting demand leads to waste and missed sales opportunities.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5000" y="508000"/>
            <a:ext cx="15011400" cy="1016000"/>
          </a:xfrm>
          <a:prstGeom prst="rect">
            <a:avLst/>
          </a:prstGeom>
          <a:noFill/>
        </p:spPr>
        <p:txBody>
          <a:bodyPr wrap="square" lIns="0" rIns="0" tIns="0" bIns="0">
            <a:spAutoFit/>
          </a:bodyPr>
          <a:lstStyle/>
          <a:p>
            <a:pPr>
              <a:defRPr i="0" sz="4000" b="1">
                <a:solidFill>
                  <a:srgbClr val="000000"/>
                </a:solidFill>
                <a:latin typeface="Arial"/>
              </a:defRPr>
            </a:pPr>
            <a:r>
              <a:rPr i="0" sz="4000" b="1">
                <a:solidFill>
                  <a:srgbClr val="000000"/>
                </a:solidFill>
                <a:latin typeface="Arial"/>
              </a:rPr>
              <a:t>Our Solution: BakeAI - Smart Baking, Perfect Results</a:t>
            </a:r>
          </a:p>
        </p:txBody>
      </p:sp>
      <p:sp>
        <p:nvSpPr>
          <p:cNvPr id="3" name="TextBox 2"/>
          <p:cNvSpPr txBox="1"/>
          <p:nvPr/>
        </p:nvSpPr>
        <p:spPr>
          <a:xfrm>
            <a:off x="635000" y="1778000"/>
            <a:ext cx="15011400" cy="6350000"/>
          </a:xfrm>
          <a:prstGeom prst="rect">
            <a:avLst/>
          </a:prstGeom>
          <a:noFill/>
        </p:spPr>
        <p:txBody>
          <a:bodyPr wrap="square" lIns="0" rIns="0" tIns="0" bIns="0">
            <a:spAutoFit/>
          </a:bodyPr>
          <a:lstStyle/>
          <a:p>
            <a:pPr>
              <a:spcBef>
                <a:spcPts val="0"/>
              </a:spcBef>
              <a:spcAft>
                <a:spcPts val="1000"/>
              </a:spcAft>
              <a:defRPr i="0" sz="2400" b="0">
                <a:solidFill>
                  <a:srgbClr val="000000"/>
                </a:solidFill>
                <a:latin typeface="Arial"/>
              </a:defRPr>
            </a:pPr>
            <a:r>
              <a:rPr i="0" sz="2400" b="0">
                <a:solidFill>
                  <a:srgbClr val="000000"/>
                </a:solidFill>
                <a:latin typeface="Arial"/>
              </a:rPr>
              <a:t>• AI-powered automation for precise recipe execution.</a:t>
            </a:r>
          </a:p>
          <a:p>
            <a:pPr>
              <a:spcBef>
                <a:spcPts val="0"/>
              </a:spcBef>
              <a:spcAft>
                <a:spcPts val="1000"/>
              </a:spcAft>
              <a:defRPr i="0" sz="2400" b="0">
                <a:solidFill>
                  <a:srgbClr val="000000"/>
                </a:solidFill>
                <a:latin typeface="Arial"/>
              </a:defRPr>
            </a:pPr>
            <a:r>
              <a:rPr i="0" sz="2400" b="0">
                <a:solidFill>
                  <a:srgbClr val="000000"/>
                </a:solidFill>
                <a:latin typeface="Arial"/>
              </a:rPr>
              <a:t>• Predictive analytics for optimized inventory and demand forecasting, reducing waste by up to 30% and increasing efficiency by up to 20%.</a:t>
            </a:r>
          </a:p>
          <a:p>
            <a:pPr>
              <a:spcBef>
                <a:spcPts val="0"/>
              </a:spcBef>
              <a:spcAft>
                <a:spcPts val="1000"/>
              </a:spcAft>
              <a:defRPr i="0" sz="2400" b="0">
                <a:solidFill>
                  <a:srgbClr val="000000"/>
                </a:solidFill>
                <a:latin typeface="Arial"/>
              </a:defRPr>
            </a:pPr>
            <a:r>
              <a:rPr i="0" sz="2400" b="0">
                <a:solidFill>
                  <a:srgbClr val="000000"/>
                </a:solidFill>
                <a:latin typeface="Arial"/>
              </a:rPr>
              <a:t>• Data-driven insights for consistent quality and reduced waste.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5000" y="508000"/>
            <a:ext cx="15011400" cy="1016000"/>
          </a:xfrm>
          <a:prstGeom prst="rect">
            <a:avLst/>
          </a:prstGeom>
          <a:noFill/>
        </p:spPr>
        <p:txBody>
          <a:bodyPr wrap="square" lIns="0" rIns="0" tIns="0" bIns="0">
            <a:spAutoFit/>
          </a:bodyPr>
          <a:lstStyle/>
          <a:p>
            <a:pPr>
              <a:defRPr i="0" sz="4000" b="1">
                <a:solidFill>
                  <a:srgbClr val="000000"/>
                </a:solidFill>
                <a:latin typeface="Arial"/>
              </a:defRPr>
            </a:pPr>
            <a:r>
              <a:rPr i="0" sz="4000" b="1">
                <a:solidFill>
                  <a:srgbClr val="000000"/>
                </a:solidFill>
                <a:latin typeface="Arial"/>
              </a:rPr>
              <a:t>Market Opportunity: A Sweet Spot for Innovation</a:t>
            </a:r>
          </a:p>
        </p:txBody>
      </p:sp>
      <p:sp>
        <p:nvSpPr>
          <p:cNvPr id="3" name="TextBox 2"/>
          <p:cNvSpPr txBox="1"/>
          <p:nvPr/>
        </p:nvSpPr>
        <p:spPr>
          <a:xfrm>
            <a:off x="635000" y="1778000"/>
            <a:ext cx="15011400" cy="6350000"/>
          </a:xfrm>
          <a:prstGeom prst="rect">
            <a:avLst/>
          </a:prstGeom>
          <a:noFill/>
        </p:spPr>
        <p:txBody>
          <a:bodyPr wrap="square" lIns="0" rIns="0" tIns="0" bIns="0">
            <a:spAutoFit/>
          </a:bodyPr>
          <a:lstStyle/>
          <a:p>
            <a:pPr>
              <a:spcBef>
                <a:spcPts val="0"/>
              </a:spcBef>
              <a:spcAft>
                <a:spcPts val="1000"/>
              </a:spcAft>
              <a:defRPr i="0" sz="2400" b="0">
                <a:solidFill>
                  <a:srgbClr val="000000"/>
                </a:solidFill>
                <a:latin typeface="Arial"/>
              </a:defRPr>
            </a:pPr>
            <a:r>
              <a:rPr i="0" sz="2400" b="0">
                <a:solidFill>
                  <a:srgbClr val="000000"/>
                </a:solidFill>
                <a:latin typeface="Arial"/>
              </a:rPr>
              <a:t>• Global bakery market valued at over $200 billion and growing.</a:t>
            </a:r>
          </a:p>
          <a:p>
            <a:pPr>
              <a:spcBef>
                <a:spcPts val="0"/>
              </a:spcBef>
              <a:spcAft>
                <a:spcPts val="1000"/>
              </a:spcAft>
              <a:defRPr i="0" sz="2400" b="0">
                <a:solidFill>
                  <a:srgbClr val="000000"/>
                </a:solidFill>
                <a:latin typeface="Arial"/>
              </a:defRPr>
            </a:pPr>
            <a:r>
              <a:rPr i="0" sz="2400" b="0">
                <a:solidFill>
                  <a:srgbClr val="000000"/>
                </a:solidFill>
                <a:latin typeface="Arial"/>
              </a:rPr>
              <a:t>• AI in Food Tech market projected to reach $15 billion by 2028, growing at a 35% CAGR.</a:t>
            </a:r>
          </a:p>
          <a:p>
            <a:pPr>
              <a:spcBef>
                <a:spcPts val="0"/>
              </a:spcBef>
              <a:spcAft>
                <a:spcPts val="1000"/>
              </a:spcAft>
              <a:defRPr i="0" sz="2400" b="0">
                <a:solidFill>
                  <a:srgbClr val="000000"/>
                </a:solidFill>
                <a:latin typeface="Arial"/>
              </a:defRPr>
            </a:pPr>
            <a:r>
              <a:rPr i="0" sz="2400" b="0">
                <a:solidFill>
                  <a:srgbClr val="000000"/>
                </a:solidFill>
                <a:latin typeface="Arial"/>
              </a:rPr>
              <a:t>• Increasing consumer demand for high-quality, artisanal baked goods.</a:t>
            </a:r>
          </a:p>
          <a:p>
            <a:pPr>
              <a:spcBef>
                <a:spcPts val="0"/>
              </a:spcBef>
              <a:spcAft>
                <a:spcPts val="1000"/>
              </a:spcAft>
              <a:defRPr i="0" sz="2400" b="0">
                <a:solidFill>
                  <a:srgbClr val="000000"/>
                </a:solidFill>
                <a:latin typeface="Arial"/>
              </a:defRPr>
            </a:pPr>
            <a:r>
              <a:rPr i="0" sz="2400" b="0">
                <a:solidFill>
                  <a:srgbClr val="000000"/>
                </a:solidFill>
                <a:latin typeface="Arial"/>
              </a:rPr>
              <a:t>• Accelerating adoption of technology in the food service industry.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5000" y="508000"/>
            <a:ext cx="15011400" cy="1016000"/>
          </a:xfrm>
          <a:prstGeom prst="rect">
            <a:avLst/>
          </a:prstGeom>
          <a:noFill/>
        </p:spPr>
        <p:txBody>
          <a:bodyPr wrap="square" lIns="0" rIns="0" tIns="0" bIns="0">
            <a:spAutoFit/>
          </a:bodyPr>
          <a:lstStyle/>
          <a:p>
            <a:pPr>
              <a:defRPr i="0" sz="4000" b="1">
                <a:solidFill>
                  <a:srgbClr val="000000"/>
                </a:solidFill>
                <a:latin typeface="Arial"/>
              </a:defRPr>
            </a:pPr>
            <a:r>
              <a:rPr i="0" sz="4000" b="1">
                <a:solidFill>
                  <a:srgbClr val="000000"/>
                </a:solidFill>
                <a:latin typeface="Arial"/>
              </a:rPr>
              <a:t>Competitive Edge: Why BakeAI Stands Out</a:t>
            </a:r>
          </a:p>
        </p:txBody>
      </p:sp>
      <p:sp>
        <p:nvSpPr>
          <p:cNvPr id="3" name="TextBox 2"/>
          <p:cNvSpPr txBox="1"/>
          <p:nvPr/>
        </p:nvSpPr>
        <p:spPr>
          <a:xfrm>
            <a:off x="635000" y="1778000"/>
            <a:ext cx="15011400" cy="6350000"/>
          </a:xfrm>
          <a:prstGeom prst="rect">
            <a:avLst/>
          </a:prstGeom>
          <a:noFill/>
        </p:spPr>
        <p:txBody>
          <a:bodyPr wrap="square" lIns="0" rIns="0" tIns="0" bIns="0">
            <a:spAutoFit/>
          </a:bodyPr>
          <a:lstStyle/>
          <a:p>
            <a:pPr>
              <a:spcBef>
                <a:spcPts val="0"/>
              </a:spcBef>
              <a:spcAft>
                <a:spcPts val="1000"/>
              </a:spcAft>
              <a:defRPr i="0" sz="2400" b="0">
                <a:solidFill>
                  <a:srgbClr val="000000"/>
                </a:solidFill>
                <a:latin typeface="Arial"/>
              </a:defRPr>
            </a:pPr>
            <a:r>
              <a:rPr i="0" sz="2400" b="0">
                <a:solidFill>
                  <a:srgbClr val="000000"/>
                </a:solidFill>
                <a:latin typeface="Arial"/>
              </a:rPr>
              <a:t>• Proprietary AI algorithms leveraging unique machine learning models for unparalleled accuracy.</a:t>
            </a:r>
          </a:p>
          <a:p>
            <a:pPr>
              <a:spcBef>
                <a:spcPts val="0"/>
              </a:spcBef>
              <a:spcAft>
                <a:spcPts val="1000"/>
              </a:spcAft>
              <a:defRPr i="0" sz="2400" b="0">
                <a:solidFill>
                  <a:srgbClr val="000000"/>
                </a:solidFill>
                <a:latin typeface="Arial"/>
              </a:defRPr>
            </a:pPr>
            <a:r>
              <a:rPr i="0" sz="2400" b="0">
                <a:solidFill>
                  <a:srgbClr val="000000"/>
                </a:solidFill>
                <a:latin typeface="Arial"/>
              </a:rPr>
              <a:t>• Seamless integration via API, compatible with existing POS and inventory systems.</a:t>
            </a:r>
          </a:p>
          <a:p>
            <a:pPr>
              <a:spcBef>
                <a:spcPts val="0"/>
              </a:spcBef>
              <a:spcAft>
                <a:spcPts val="1000"/>
              </a:spcAft>
              <a:defRPr i="0" sz="2400" b="0">
                <a:solidFill>
                  <a:srgbClr val="000000"/>
                </a:solidFill>
                <a:latin typeface="Arial"/>
              </a:defRPr>
            </a:pPr>
            <a:r>
              <a:rPr i="0" sz="2400" b="0">
                <a:solidFill>
                  <a:srgbClr val="000000"/>
                </a:solidFill>
                <a:latin typeface="Arial"/>
              </a:rPr>
              <a:t>• Scalable solution for businesses of all sizes.</a:t>
            </a:r>
          </a:p>
          <a:p>
            <a:pPr>
              <a:spcBef>
                <a:spcPts val="0"/>
              </a:spcBef>
              <a:spcAft>
                <a:spcPts val="1000"/>
              </a:spcAft>
              <a:defRPr i="0" sz="2400" b="0">
                <a:solidFill>
                  <a:srgbClr val="000000"/>
                </a:solidFill>
                <a:latin typeface="Arial"/>
              </a:defRPr>
            </a:pPr>
            <a:r>
              <a:rPr i="0" sz="2400" b="0">
                <a:solidFill>
                  <a:srgbClr val="000000"/>
                </a:solidFill>
                <a:latin typeface="Arial"/>
              </a:rPr>
              <a:t>• Focus on enhancing artisanal quality, not replacing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5000" y="508000"/>
            <a:ext cx="15011400" cy="1016000"/>
          </a:xfrm>
          <a:prstGeom prst="rect">
            <a:avLst/>
          </a:prstGeom>
          <a:noFill/>
        </p:spPr>
        <p:txBody>
          <a:bodyPr wrap="square" lIns="0" rIns="0" tIns="0" bIns="0">
            <a:spAutoFit/>
          </a:bodyPr>
          <a:lstStyle/>
          <a:p>
            <a:pPr>
              <a:defRPr i="0" sz="4000" b="1">
                <a:solidFill>
                  <a:srgbClr val="000000"/>
                </a:solidFill>
                <a:latin typeface="Arial"/>
              </a:defRPr>
            </a:pPr>
            <a:r>
              <a:rPr i="0" sz="4000" b="1">
                <a:solidFill>
                  <a:srgbClr val="000000"/>
                </a:solidFill>
                <a:latin typeface="Arial"/>
              </a:rPr>
              <a:t>Business Model &amp; Go-to-Market</a:t>
            </a:r>
          </a:p>
        </p:txBody>
      </p:sp>
      <p:sp>
        <p:nvSpPr>
          <p:cNvPr id="3" name="TextBox 2"/>
          <p:cNvSpPr txBox="1"/>
          <p:nvPr/>
        </p:nvSpPr>
        <p:spPr>
          <a:xfrm>
            <a:off x="635000" y="1778000"/>
            <a:ext cx="15011400" cy="6350000"/>
          </a:xfrm>
          <a:prstGeom prst="rect">
            <a:avLst/>
          </a:prstGeom>
          <a:noFill/>
        </p:spPr>
        <p:txBody>
          <a:bodyPr wrap="square" lIns="0" rIns="0" tIns="0" bIns="0">
            <a:spAutoFit/>
          </a:bodyPr>
          <a:lstStyle/>
          <a:p>
            <a:pPr>
              <a:spcBef>
                <a:spcPts val="0"/>
              </a:spcBef>
              <a:spcAft>
                <a:spcPts val="1000"/>
              </a:spcAft>
              <a:defRPr i="0" sz="2400" b="0">
                <a:solidFill>
                  <a:srgbClr val="000000"/>
                </a:solidFill>
                <a:latin typeface="Arial"/>
              </a:defRPr>
            </a:pPr>
            <a:r>
              <a:rPr i="0" sz="2400" b="0">
                <a:solidFill>
                  <a:srgbClr val="000000"/>
                </a:solidFill>
                <a:latin typeface="Arial"/>
              </a:rPr>
              <a:t>• SaaS Subscription: Tiered pricing (e.g., Basic $99/month, Pro $249/month, Enterprise custom pricing) based on bakery size and feature usage.</a:t>
            </a:r>
          </a:p>
          <a:p>
            <a:pPr>
              <a:spcBef>
                <a:spcPts val="0"/>
              </a:spcBef>
              <a:spcAft>
                <a:spcPts val="1000"/>
              </a:spcAft>
              <a:defRPr i="0" sz="2400" b="0">
                <a:solidFill>
                  <a:srgbClr val="000000"/>
                </a:solidFill>
                <a:latin typeface="Arial"/>
              </a:defRPr>
            </a:pPr>
            <a:r>
              <a:rPr i="0" sz="2400" b="0">
                <a:solidFill>
                  <a:srgbClr val="000000"/>
                </a:solidFill>
                <a:latin typeface="Arial"/>
              </a:rPr>
              <a:t>• Pilot Programs: Targeted rollout with artisanal bakeries and local chains (e.g., 'The Flour Pot', 'Local Loaf Co.') for early adoption and feedback.</a:t>
            </a:r>
          </a:p>
          <a:p>
            <a:pPr>
              <a:spcBef>
                <a:spcPts val="0"/>
              </a:spcBef>
              <a:spcAft>
                <a:spcPts val="1000"/>
              </a:spcAft>
              <a:defRPr i="0" sz="2400" b="0">
                <a:solidFill>
                  <a:srgbClr val="000000"/>
                </a:solidFill>
                <a:latin typeface="Arial"/>
              </a:defRPr>
            </a:pPr>
            <a:r>
              <a:rPr i="0" sz="2400" b="0">
                <a:solidFill>
                  <a:srgbClr val="000000"/>
                </a:solidFill>
                <a:latin typeface="Arial"/>
              </a:rPr>
              <a:t>• Channel Partnerships: Collaborating with bakery equipment suppliers (e.g., Hobart, Rational) and industry consultants.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5000" y="508000"/>
            <a:ext cx="15011400" cy="1016000"/>
          </a:xfrm>
          <a:prstGeom prst="rect">
            <a:avLst/>
          </a:prstGeom>
          <a:noFill/>
        </p:spPr>
        <p:txBody>
          <a:bodyPr wrap="square" lIns="0" rIns="0" tIns="0" bIns="0">
            <a:spAutoFit/>
          </a:bodyPr>
          <a:lstStyle/>
          <a:p>
            <a:pPr>
              <a:defRPr i="0" sz="4000" b="1">
                <a:solidFill>
                  <a:srgbClr val="000000"/>
                </a:solidFill>
                <a:latin typeface="Arial"/>
              </a:defRPr>
            </a:pPr>
            <a:r>
              <a:rPr i="0" sz="4000" b="1">
                <a:solidFill>
                  <a:srgbClr val="000000"/>
                </a:solidFill>
                <a:latin typeface="Arial"/>
              </a:rPr>
              <a:t>Our Team</a:t>
            </a:r>
          </a:p>
        </p:txBody>
      </p:sp>
      <p:sp>
        <p:nvSpPr>
          <p:cNvPr id="3" name="TextBox 2"/>
          <p:cNvSpPr txBox="1"/>
          <p:nvPr/>
        </p:nvSpPr>
        <p:spPr>
          <a:xfrm>
            <a:off x="635000" y="1778000"/>
            <a:ext cx="15011400" cy="6350000"/>
          </a:xfrm>
          <a:prstGeom prst="rect">
            <a:avLst/>
          </a:prstGeom>
          <a:noFill/>
        </p:spPr>
        <p:txBody>
          <a:bodyPr wrap="square" lIns="0" rIns="0" tIns="0" bIns="0">
            <a:spAutoFit/>
          </a:bodyPr>
          <a:lstStyle/>
          <a:p>
            <a:pPr>
              <a:spcBef>
                <a:spcPts val="0"/>
              </a:spcBef>
              <a:spcAft>
                <a:spcPts val="1000"/>
              </a:spcAft>
              <a:defRPr i="0" sz="2400" b="0">
                <a:solidFill>
                  <a:srgbClr val="000000"/>
                </a:solidFill>
                <a:latin typeface="Arial"/>
              </a:defRPr>
            </a:pPr>
            <a:r>
              <a:rPr i="0" sz="2400" b="0">
                <a:solidFill>
                  <a:srgbClr val="000000"/>
                </a:solidFill>
                <a:latin typeface="Arial"/>
              </a:rPr>
              <a:t>• Led by experienced professionals in AI, Food Science, and Business Development.</a:t>
            </a:r>
          </a:p>
          <a:p>
            <a:pPr>
              <a:spcBef>
                <a:spcPts val="0"/>
              </a:spcBef>
              <a:spcAft>
                <a:spcPts val="1000"/>
              </a:spcAft>
              <a:defRPr i="0" sz="2400" b="0">
                <a:solidFill>
                  <a:srgbClr val="000000"/>
                </a:solidFill>
                <a:latin typeface="Arial"/>
              </a:defRPr>
            </a:pPr>
            <a:r>
              <a:rPr i="0" sz="2400" b="0">
                <a:solidFill>
                  <a:srgbClr val="000000"/>
                </a:solidFill>
                <a:latin typeface="Arial"/>
              </a:rPr>
              <a:t>• Deep understanding of bakery operations and market needs.</a:t>
            </a:r>
          </a:p>
          <a:p>
            <a:pPr>
              <a:spcBef>
                <a:spcPts val="0"/>
              </a:spcBef>
              <a:spcAft>
                <a:spcPts val="1000"/>
              </a:spcAft>
              <a:defRPr i="0" sz="2400" b="0">
                <a:solidFill>
                  <a:srgbClr val="000000"/>
                </a:solidFill>
                <a:latin typeface="Arial"/>
              </a:defRPr>
            </a:pPr>
            <a:r>
              <a:rPr i="0" sz="2400" b="0">
                <a:solidFill>
                  <a:srgbClr val="000000"/>
                </a:solidFill>
                <a:latin typeface="Arial"/>
              </a:rPr>
              <a:t>• Proven track record in scaling technology solutions.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35000" y="508000"/>
            <a:ext cx="15011400" cy="1016000"/>
          </a:xfrm>
          <a:prstGeom prst="rect">
            <a:avLst/>
          </a:prstGeom>
          <a:noFill/>
        </p:spPr>
        <p:txBody>
          <a:bodyPr wrap="square" lIns="0" rIns="0" tIns="0" bIns="0">
            <a:spAutoFit/>
          </a:bodyPr>
          <a:lstStyle/>
          <a:p>
            <a:pPr>
              <a:defRPr i="0" sz="4000" b="1">
                <a:solidFill>
                  <a:srgbClr val="000000"/>
                </a:solidFill>
                <a:latin typeface="Arial"/>
              </a:defRPr>
            </a:pPr>
            <a:r>
              <a:rPr i="0" sz="4000" b="1">
                <a:solidFill>
                  <a:srgbClr val="000000"/>
                </a:solidFill>
                <a:latin typeface="Arial"/>
              </a:rPr>
              <a:t>Next Steps</a:t>
            </a:r>
          </a:p>
        </p:txBody>
      </p:sp>
      <p:sp>
        <p:nvSpPr>
          <p:cNvPr id="3" name="TextBox 2"/>
          <p:cNvSpPr txBox="1"/>
          <p:nvPr/>
        </p:nvSpPr>
        <p:spPr>
          <a:xfrm>
            <a:off x="635000" y="1778000"/>
            <a:ext cx="15011400" cy="6350000"/>
          </a:xfrm>
          <a:prstGeom prst="rect">
            <a:avLst/>
          </a:prstGeom>
          <a:noFill/>
        </p:spPr>
        <p:txBody>
          <a:bodyPr wrap="square" lIns="0" rIns="0" tIns="0" bIns="0">
            <a:spAutoFit/>
          </a:bodyPr>
          <a:lstStyle/>
          <a:p>
            <a:pPr>
              <a:spcBef>
                <a:spcPts val="0"/>
              </a:spcBef>
              <a:spcAft>
                <a:spcPts val="1000"/>
              </a:spcAft>
              <a:defRPr i="0" sz="2400" b="0">
                <a:solidFill>
                  <a:srgbClr val="000000"/>
                </a:solidFill>
                <a:latin typeface="Arial"/>
              </a:defRPr>
            </a:pPr>
            <a:r>
              <a:rPr i="0" sz="2400" b="0">
                <a:solidFill>
                  <a:srgbClr val="000000"/>
                </a:solidFill>
                <a:latin typeface="Arial"/>
              </a:rPr>
              <a:t>• Request a personalized demo to see BakeAI in action.</a:t>
            </a:r>
          </a:p>
          <a:p>
            <a:pPr>
              <a:spcBef>
                <a:spcPts val="0"/>
              </a:spcBef>
              <a:spcAft>
                <a:spcPts val="1000"/>
              </a:spcAft>
              <a:defRPr i="0" sz="2400" b="0">
                <a:solidFill>
                  <a:srgbClr val="000000"/>
                </a:solidFill>
                <a:latin typeface="Arial"/>
              </a:defRPr>
            </a:pPr>
            <a:r>
              <a:rPr i="0" sz="2400" b="0">
                <a:solidFill>
                  <a:srgbClr val="000000"/>
                </a:solidFill>
                <a:latin typeface="Arial"/>
              </a:rPr>
              <a:t>• Let's discuss partnership opportunities and how BakeAI can transform your bakery.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