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pain point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product is the hero.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Massive opportunity: 2000M TAM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path to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proof of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talent behind the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 in the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0" y="3175000"/>
            <a:ext cx="137414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7200" b="1">
                <a:solidFill>
                  <a:srgbClr val="FD9D27"/>
                </a:solidFill>
                <a:latin typeface="Arial"/>
              </a:defRPr>
            </a:pPr>
            <a:r>
              <a:rPr i="0" sz="7200" b="1">
                <a:solidFill>
                  <a:srgbClr val="FD9D27"/>
                </a:solidFill>
                <a:latin typeface="Arial"/>
              </a:rPr>
              <a:t>Assil by Tabaani Technology [cite: 20]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5715000"/>
            <a:ext cx="137414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800" b="1">
                <a:solidFill>
                  <a:srgbClr val="FA7532"/>
                </a:solidFill>
                <a:latin typeface="Arial"/>
              </a:defRPr>
            </a:pPr>
            <a:r>
              <a:rPr i="0" sz="1800" b="1">
                <a:solidFill>
                  <a:srgbClr val="FA7532"/>
                </a:solidFill>
                <a:latin typeface="Arial"/>
              </a:rPr>
              <a:t>POWERED BY SPARK2SCALE AI</a:t>
            </a:r>
          </a:p>
        </p:txBody>
      </p:sp>
      <p:pic>
        <p:nvPicPr>
          <p:cNvPr id="4" name="Picture 3" descr="cc179850-df18-486d-a94a-03dc11982c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635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Travel planning is overwhelming (43% dislike choice overload)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itineraries are often impersonal (90% want local experiences)[cite: 34, 35]</a:t>
            </a:r>
          </a:p>
        </p:txBody>
      </p:sp>
      <p:pic>
        <p:nvPicPr>
          <p:cNvPr id="5" name="Picture 4" descr="fd8bd072-b22b-4caa-a79c-0d94d24ae3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6" name="Picture 5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AI-powered authentic planning with personalized itineraries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real-time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and multilingual support (Arabic</a:t>
            </a:r>
          </a:p>
        </p:txBody>
      </p:sp>
      <p:pic>
        <p:nvPicPr>
          <p:cNvPr id="6" name="Picture 5" descr="d11b4bd6-1f96-4419-a369-5aa60e97c5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TAM: 2000M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SAM: 200M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SOM: 50M reachable</a:t>
            </a:r>
          </a:p>
        </p:txBody>
      </p:sp>
      <p:pic>
        <p:nvPicPr>
          <p:cNvPr id="6" name="Picture 5" descr="5edef238-2ae5-475c-9263-a42e87db4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Intuitive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Real-time AI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Seamless cloud integration</a:t>
            </a:r>
          </a:p>
        </p:txBody>
      </p:sp>
      <p:pic>
        <p:nvPicPr>
          <p:cNvPr id="6" name="Picture 5" descr="29064b70-a118-4464-adc7-090834b857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Hybrid Freemium and B2B API Licensing Model[cite: 13]</a:t>
            </a:r>
          </a:p>
        </p:txBody>
      </p:sp>
      <p:pic>
        <p:nvPicPr>
          <p:cNvPr id="4" name="Picture 3" descr="6b11455e-421c-4527-9e18-d8a3155277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5" name="Picture 4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10,000 Active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$45,000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Market leading retention</a:t>
            </a:r>
          </a:p>
        </p:txBody>
      </p:sp>
      <p:pic>
        <p:nvPicPr>
          <p:cNvPr id="6" name="Picture 5" descr="9e5bd4be-a604-4c57-9dba-97271648a3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Hamza Moussi (Product/AI Architect)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Moukim Hfaiedh (Tech)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Salma Cherif (AI Eng)</a:t>
            </a:r>
          </a:p>
        </p:txBody>
      </p:sp>
      <p:pic>
        <p:nvPicPr>
          <p:cNvPr id="6" name="Picture 5" descr="1088771b-e206-483d-ac7a-b7c5fa56c2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08000"/>
            <a:ext cx="1475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3600" b="1">
                <a:solidFill>
                  <a:srgbClr val="FD9D27"/>
                </a:solidFill>
                <a:latin typeface="Arial"/>
              </a:defRPr>
            </a:pPr>
            <a:r>
              <a:rPr i="0" sz="3600" b="1">
                <a:solidFill>
                  <a:srgbClr val="FD9D27"/>
                </a:solidFill>
                <a:latin typeface="Arial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$300k Pre-seed for 12 months to reach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68834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000" b="0">
                <a:solidFill>
                  <a:srgbClr val="000000"/>
                </a:solidFill>
                <a:latin typeface="Arial"/>
              </a:defRPr>
            </a:pPr>
            <a:r>
              <a:rPr i="0" sz="2000" b="0">
                <a:solidFill>
                  <a:srgbClr val="000000"/>
                </a:solidFill>
                <a:latin typeface="Arial"/>
              </a:rPr>
              <a:t>000 bookings and ~$360k in generated revenue[cite: 18]</a:t>
            </a:r>
          </a:p>
        </p:txBody>
      </p:sp>
      <p:pic>
        <p:nvPicPr>
          <p:cNvPr id="5" name="Picture 4" descr="b0778781-aeba-40b3-9ded-9e9ca7061e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6" name="Picture 5" descr="cc179850-df18-486d-a94a-03dc11982c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