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startup journey is a high-stakes game, and the cost of failure is immense – a staggering $10 billion market tax annually. Founders are drowning in unvalidated ideas and struggling to connect with investors. Current tools are generic, wasting critical time and money. Tabaani cuts through this chaos, providing the specialized AI guidance founders desperately need.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Tabaani – your AI co-pilot engineered for the startup lifecycle. We empower founders by providing AI-driven validation and automating essential investor documents. This isn't just a tool; it's a strategic advantage, cutting through uncertainty and accelerating the path to funding.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opportunity is substantial and growing. We are positioned within the rapidly expanding global market for AI-driven startup support, valued at $10 billion. Our strategic beachhead is the MENA region, where the early-stage ecosystem is vibrant, representing a $500 million Serviceable Addressable Market. Our initial Serviceable Obtainable Market target is $25 million, demonstrating a clear path to significant market capture.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Tabaani's core strength lies in its specialized AI. Unlike generic solutions, our models are trained on deep sector-specific data, enabling nuanced analysis and highly accurate scoring. This proprietary technology forms our defensible moat, ensuring a unique and powerful value proposition for founders.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is built for rapid adoption and scalability. The freemium approach allows us to attract a broad user base, demonstrating Tabaani's value. Premium features, such as advanced market analysis and investor outreach tools, will drive revenue, with an average ticket price of $400. Our current financial projections and burn rate support a 12-month runway, ensuring focused execution.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market's need is clear and validated. We've achieved a 'High' solution fit score, backed by direct feedback from 15 founders who articulated a significant pain point – a 78/100 score. While we are pre-seed and currently have zero users, this strong validation means we are poised for rapid adoption upon launch.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possesses the ideal blend of market insight, technical prowess, and operational discipline. Ahmed's deep understanding of founder challenges, Mona's advanced AI expertise, and Sara's proven operational leadership create a powerful foundation for Tabaani's success. We are the right team to solve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seeking $500,000 to finalize our AI development, scale our platform, and execute a targeted go-to-market strategy. This investment will provide a runway of 12-18 months, enabling us to achieve key milestones, capture significant market share, and establish Tabaani as the leader in AI-powered startup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2540000"/>
            <a:ext cx="14249400" cy="2540000"/>
          </a:xfrm>
          <a:prstGeom prst="rect">
            <a:avLst/>
          </a:prstGeom>
          <a:noFill/>
        </p:spPr>
        <p:txBody>
          <a:bodyPr wrap="square" lIns="0" rIns="0" tIns="0" bIns="0">
            <a:spAutoFit/>
          </a:bodyPr>
          <a:lstStyle/>
          <a:p>
            <a:pPr algn="ctr">
              <a:defRPr i="0" sz="8000" b="1">
                <a:solidFill>
                  <a:srgbClr val="FD9D27"/>
                </a:solidFill>
                <a:latin typeface="Arial"/>
              </a:defRPr>
            </a:pPr>
            <a:r>
              <a:rPr i="0" sz="8000" b="1">
                <a:solidFill>
                  <a:srgbClr val="FD9D27"/>
                </a:solidFill>
                <a:latin typeface="Arial"/>
              </a:rPr>
              <a:t>Tabaani: AI-Powered Startup Validation</a:t>
            </a:r>
          </a:p>
        </p:txBody>
      </p:sp>
      <p:sp>
        <p:nvSpPr>
          <p:cNvPr id="3" name="TextBox 2"/>
          <p:cNvSpPr txBox="1"/>
          <p:nvPr/>
        </p:nvSpPr>
        <p:spPr>
          <a:xfrm>
            <a:off x="1016000" y="5842000"/>
            <a:ext cx="14249400" cy="1016000"/>
          </a:xfrm>
          <a:prstGeom prst="rect">
            <a:avLst/>
          </a:prstGeom>
          <a:noFill/>
        </p:spPr>
        <p:txBody>
          <a:bodyPr wrap="square" lIns="0" rIns="0" tIns="0" bIns="0">
            <a:spAutoFit/>
          </a:bodyPr>
          <a:lstStyle/>
          <a:p>
            <a:pPr algn="ctr">
              <a:defRPr i="0" sz="2400" b="1">
                <a:solidFill>
                  <a:srgbClr val="FA7532"/>
                </a:solidFill>
                <a:latin typeface="Arial"/>
              </a:defRPr>
            </a:pPr>
            <a:r>
              <a:rPr i="0" sz="2400" b="1">
                <a:solidFill>
                  <a:srgbClr val="FA7532"/>
                </a:solidFill>
                <a:latin typeface="Arial"/>
              </a:rPr>
              <a:t>POWERED BY SPARK2SCALE AI</a:t>
            </a:r>
          </a:p>
        </p:txBody>
      </p:sp>
      <p:pic>
        <p:nvPicPr>
          <p:cNvPr id="4" name="Picture 3" descr="783c05c7-56ed-4213-9030-29caf2bb9976.png"/>
          <p:cNvPicPr>
            <a:picLocks noChangeAspect="1"/>
          </p:cNvPicPr>
          <p:nvPr/>
        </p:nvPicPr>
        <p:blipFill>
          <a:blip r:embed="rId2"/>
          <a:stretch>
            <a:fillRect/>
          </a:stretch>
        </p:blipFill>
        <p:spPr>
          <a:xfrm>
            <a:off x="635000" y="635000"/>
            <a:ext cx="1905000" cy="127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$10B STARTUP FAILURE TAX: WHY FOUNDERS STRUGGLE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1">
                <a:solidFill>
                  <a:srgbClr val="FA7532"/>
                </a:solidFill>
                <a:latin typeface="Arial"/>
              </a:rPr>
              <a:t>50%+ of startups</a:t>
            </a:r>
            <a:r>
              <a:rPr i="0" sz="2800" b="0">
                <a:solidFill>
                  <a:srgbClr val="000000"/>
                </a:solidFill>
                <a:latin typeface="Arial"/>
              </a:rPr>
              <a:t> falter due to unvalidated ideas and investor hurdles.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Generic tools drain precious time and capital, leaving founders lost.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The critical need: </a:t>
            </a:r>
            <a:r>
              <a:rPr i="0" sz="2800" b="1">
                <a:solidFill>
                  <a:srgbClr val="FA7532"/>
                </a:solidFill>
                <a:latin typeface="Arial"/>
              </a:rPr>
              <a:t>AI-driven guidance</a:t>
            </a:r>
            <a:r>
              <a:rPr i="0" sz="2800" b="0">
                <a:solidFill>
                  <a:srgbClr val="000000"/>
                </a:solidFill>
                <a:latin typeface="Arial"/>
              </a:rPr>
              <a:t> from concept to capital.</a:t>
            </a:r>
          </a:p>
        </p:txBody>
      </p:sp>
      <p:pic>
        <p:nvPicPr>
          <p:cNvPr id="6" name="Picture 5" descr="a12e1801-c490-47d7-9bb8-3b3a87c5944d.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TABAANI: YOUR AI CO-PILOT FOR STARTUP SUCCESS</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Tabaani is the AI platform that </a:t>
            </a:r>
            <a:r>
              <a:rPr i="0" sz="2800" b="1">
                <a:solidFill>
                  <a:srgbClr val="FA7532"/>
                </a:solidFill>
                <a:latin typeface="Arial"/>
              </a:rPr>
              <a:t>transforms</a:t>
            </a:r>
            <a:r>
              <a:rPr i="0" sz="2800" b="0">
                <a:solidFill>
                  <a:srgbClr val="000000"/>
                </a:solidFill>
                <a:latin typeface="Arial"/>
              </a:rPr>
              <a:t> raw ideas into investor-ready ventures.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Delivering </a:t>
            </a:r>
            <a:r>
              <a:rPr i="0" sz="2800" b="1">
                <a:solidFill>
                  <a:srgbClr val="FA7532"/>
                </a:solidFill>
                <a:latin typeface="Arial"/>
              </a:rPr>
              <a:t>actionable insights</a:t>
            </a:r>
            <a:r>
              <a:rPr i="0" sz="2800" b="0">
                <a:solidFill>
                  <a:srgbClr val="000000"/>
                </a:solidFill>
                <a:latin typeface="Arial"/>
              </a:rPr>
              <a:t> and tailored reports to cut through the noise.</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Build confidence and </a:t>
            </a:r>
            <a:r>
              <a:rPr i="0" sz="2800" b="1">
                <a:solidFill>
                  <a:srgbClr val="FA7532"/>
                </a:solidFill>
                <a:latin typeface="Arial"/>
              </a:rPr>
              <a:t>secure funding</a:t>
            </a:r>
            <a:r>
              <a:rPr i="0" sz="2800" b="0">
                <a:solidFill>
                  <a:srgbClr val="000000"/>
                </a:solidFill>
                <a:latin typeface="Arial"/>
              </a:rPr>
              <a:t> faster with specialized AI.</a:t>
            </a:r>
          </a:p>
        </p:txBody>
      </p:sp>
      <p:pic>
        <p:nvPicPr>
          <p:cNvPr id="6" name="Picture 5" descr="52f64520-a013-45db-be7d-0fe17f8db8e7.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A $10B MARKET RIPE FOR DISRUPTION</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Tapping into the global AI startup support market: </a:t>
            </a:r>
            <a:r>
              <a:rPr i="0" sz="2800" b="1">
                <a:solidFill>
                  <a:srgbClr val="FA7532"/>
                </a:solidFill>
                <a:latin typeface="Arial"/>
              </a:rPr>
              <a:t>$10 Billion TAM</a:t>
            </a:r>
            <a:r>
              <a:rPr i="0" sz="2800" b="0">
                <a:solidFill>
                  <a:srgbClr val="000000"/>
                </a:solidFill>
                <a:latin typeface="Arial"/>
              </a:rPr>
              <a:t>.</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Focusing on MENA's early-stage tech and business startups: </a:t>
            </a:r>
            <a:r>
              <a:rPr i="0" sz="2800" b="1">
                <a:solidFill>
                  <a:srgbClr val="FA7532"/>
                </a:solidFill>
                <a:latin typeface="Arial"/>
              </a:rPr>
              <a:t>$500 Million SAM</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Targeting an initial achievable market of </a:t>
            </a:r>
            <a:r>
              <a:rPr i="0" sz="2800" b="1">
                <a:solidFill>
                  <a:srgbClr val="FA7532"/>
                </a:solidFill>
                <a:latin typeface="Arial"/>
              </a:rPr>
              <a:t>$25 Million SOM</a:t>
            </a:r>
            <a:r>
              <a:rPr i="0" sz="2800" b="0">
                <a:solidFill>
                  <a:srgbClr val="000000"/>
                </a:solidFill>
                <a:latin typeface="Arial"/>
              </a:rPr>
              <a:t>.</a:t>
            </a:r>
          </a:p>
        </p:txBody>
      </p:sp>
      <p:pic>
        <p:nvPicPr>
          <p:cNvPr id="6" name="Picture 5" descr="f33f96c2-d232-4512-8c38-be26acf17c7a.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OUR EDGE: SPECIALIZED AI FOR STARTUP INTELLIGENCE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An MVP delivering core AI-driven evaluation and document generation.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1">
                <a:solidFill>
                  <a:srgbClr val="FA7532"/>
                </a:solidFill>
                <a:latin typeface="Arial"/>
              </a:rPr>
              <a:t>Sector-specific AI algorithms</a:t>
            </a:r>
            <a:r>
              <a:rPr i="0" sz="2800" b="0">
                <a:solidFill>
                  <a:srgbClr val="000000"/>
                </a:solidFill>
                <a:latin typeface="Arial"/>
              </a:rPr>
              <a:t> provide unparalleled scoring and analysis.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Building a defensible moat with </a:t>
            </a:r>
            <a:r>
              <a:rPr i="0" sz="2800" b="1">
                <a:solidFill>
                  <a:srgbClr val="FA7532"/>
                </a:solidFill>
                <a:latin typeface="Arial"/>
              </a:rPr>
              <a:t>proprietary AI technology</a:t>
            </a:r>
            <a:r>
              <a:rPr i="0" sz="2800" b="0">
                <a:solidFill>
                  <a:srgbClr val="000000"/>
                </a:solidFill>
                <a:latin typeface="Arial"/>
              </a:rPr>
              <a:t> and unique insights.</a:t>
            </a:r>
          </a:p>
        </p:txBody>
      </p:sp>
      <p:pic>
        <p:nvPicPr>
          <p:cNvPr id="6" name="Picture 5" descr="d7734eeb-f81e-4b79-9c35-508c5c70c158.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FREEMIUM MODEL: DRIVING ADOPTION &amp; REVENUE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Leveraging a </a:t>
            </a:r>
            <a:r>
              <a:rPr i="0" sz="2800" b="1">
                <a:solidFill>
                  <a:srgbClr val="FA7532"/>
                </a:solidFill>
                <a:latin typeface="Arial"/>
              </a:rPr>
              <a:t>freemium model</a:t>
            </a:r>
            <a:r>
              <a:rPr i="0" sz="2800" b="0">
                <a:solidFill>
                  <a:srgbClr val="000000"/>
                </a:solidFill>
                <a:latin typeface="Arial"/>
              </a:rPr>
              <a:t> for maximum user acquisition.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Targeting an average revenue of </a:t>
            </a:r>
            <a:r>
              <a:rPr i="0" sz="2800" b="1">
                <a:solidFill>
                  <a:srgbClr val="FA7532"/>
                </a:solidFill>
                <a:latin typeface="Arial"/>
              </a:rPr>
              <a:t>$400 per customer</a:t>
            </a:r>
            <a:r>
              <a:rPr i="0" sz="2800" b="0">
                <a:solidFill>
                  <a:srgbClr val="000000"/>
                </a:solidFill>
                <a:latin typeface="Arial"/>
              </a:rPr>
              <a:t> via premium features like advanced market analysis.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Maintaining a lean operation with a </a:t>
            </a:r>
            <a:r>
              <a:rPr i="0" sz="2800" b="1">
                <a:solidFill>
                  <a:srgbClr val="FA7532"/>
                </a:solidFill>
                <a:latin typeface="Arial"/>
              </a:rPr>
              <a:t>12-month runway</a:t>
            </a:r>
            <a:r>
              <a:rPr i="0" sz="2800" b="0">
                <a:solidFill>
                  <a:srgbClr val="000000"/>
                </a:solidFill>
                <a:latin typeface="Arial"/>
              </a:rPr>
              <a:t>.</a:t>
            </a:r>
          </a:p>
        </p:txBody>
      </p:sp>
      <p:pic>
        <p:nvPicPr>
          <p:cNvPr id="6" name="Picture 5" descr="9de57215-e668-4e79-a2c7-c7883cd78b3e.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VALIDATED DEMAND, READY FOR LAUNCH</a:t>
            </a:r>
          </a:p>
        </p:txBody>
      </p:sp>
      <p:sp>
        <p:nvSpPr>
          <p:cNvPr id="3" name="TextBox 2"/>
          <p:cNvSpPr txBox="1"/>
          <p:nvPr/>
        </p:nvSpPr>
        <p:spPr>
          <a:xfrm>
            <a:off x="76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1">
                <a:solidFill>
                  <a:srgbClr val="FA7532"/>
                </a:solidFill>
                <a:latin typeface="Arial"/>
              </a:rPr>
              <a:t>'High' solution fit score</a:t>
            </a:r>
            <a:r>
              <a:rPr i="0" sz="3200" b="0">
                <a:solidFill>
                  <a:srgbClr val="000000"/>
                </a:solidFill>
                <a:latin typeface="Arial"/>
              </a:rPr>
              <a:t> confirmed by 15 founder interviews.</a:t>
            </a:r>
          </a:p>
        </p:txBody>
      </p:sp>
      <p:sp>
        <p:nvSpPr>
          <p:cNvPr id="4" name="TextBox 3"/>
          <p:cNvSpPr txBox="1"/>
          <p:nvPr/>
        </p:nvSpPr>
        <p:spPr>
          <a:xfrm>
            <a:off x="584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1">
                <a:solidFill>
                  <a:srgbClr val="FA7532"/>
                </a:solidFill>
                <a:latin typeface="Arial"/>
              </a:rPr>
              <a:t>78/100 pain score</a:t>
            </a:r>
            <a:r>
              <a:rPr i="0" sz="3200" b="0">
                <a:solidFill>
                  <a:srgbClr val="000000"/>
                </a:solidFill>
                <a:latin typeface="Arial"/>
              </a:rPr>
              <a:t> highlights urgent market need.</a:t>
            </a:r>
          </a:p>
        </p:txBody>
      </p:sp>
      <p:sp>
        <p:nvSpPr>
          <p:cNvPr id="5" name="TextBox 4"/>
          <p:cNvSpPr txBox="1"/>
          <p:nvPr/>
        </p:nvSpPr>
        <p:spPr>
          <a:xfrm>
            <a:off x="1092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0">
                <a:solidFill>
                  <a:srgbClr val="000000"/>
                </a:solidFill>
                <a:latin typeface="Arial"/>
              </a:rPr>
              <a:t>Pre-seed stage: Focused on launch and initial customer acquisition.</a:t>
            </a:r>
          </a:p>
        </p:txBody>
      </p:sp>
      <p:pic>
        <p:nvPicPr>
          <p:cNvPr id="6" name="Picture 5" descr="93d03e65-2907-4221-9c38-9a216ddab645.png"/>
          <p:cNvPicPr>
            <a:picLocks noChangeAspect="1"/>
          </p:cNvPicPr>
          <p:nvPr/>
        </p:nvPicPr>
        <p:blipFill>
          <a:blip r:embed="rId3"/>
          <a:stretch>
            <a:fillRect/>
          </a:stretch>
        </p:blipFill>
        <p:spPr>
          <a:xfrm>
            <a:off x="13970000" y="381000"/>
            <a:ext cx="1524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TEAM: EXPERTISE TO EXECUTE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CEO Ahmed Hassan: </a:t>
            </a:r>
            <a:r>
              <a:rPr i="0" sz="2800" b="1">
                <a:solidFill>
                  <a:srgbClr val="FA7532"/>
                </a:solidFill>
                <a:latin typeface="Arial"/>
              </a:rPr>
              <a:t>5 years</a:t>
            </a:r>
            <a:r>
              <a:rPr i="0" sz="2800" b="0">
                <a:solidFill>
                  <a:srgbClr val="000000"/>
                </a:solidFill>
                <a:latin typeface="Arial"/>
              </a:rPr>
              <a:t> as a Startup Consultant, deeply understanding founder challenges.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CTO Mona Ali: </a:t>
            </a:r>
            <a:r>
              <a:rPr i="0" sz="2800" b="1">
                <a:solidFill>
                  <a:srgbClr val="FA7532"/>
                </a:solidFill>
                <a:latin typeface="Arial"/>
              </a:rPr>
              <a:t>4 years</a:t>
            </a:r>
            <a:r>
              <a:rPr i="0" sz="2800" b="0">
                <a:solidFill>
                  <a:srgbClr val="000000"/>
                </a:solidFill>
                <a:latin typeface="Arial"/>
              </a:rPr>
              <a:t> in AI/ML at TechLabs, architecting cutting-edge solutions.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COO Sara Khaled: </a:t>
            </a:r>
            <a:r>
              <a:rPr i="0" sz="2800" b="1">
                <a:solidFill>
                  <a:srgbClr val="FA7532"/>
                </a:solidFill>
                <a:latin typeface="Arial"/>
              </a:rPr>
              <a:t>6 years</a:t>
            </a:r>
            <a:r>
              <a:rPr i="0" sz="2800" b="0">
                <a:solidFill>
                  <a:srgbClr val="000000"/>
                </a:solidFill>
                <a:latin typeface="Arial"/>
              </a:rPr>
              <a:t> of operational excellence, ensuring seamless execution.</a:t>
            </a:r>
          </a:p>
        </p:txBody>
      </p:sp>
      <p:pic>
        <p:nvPicPr>
          <p:cNvPr id="6" name="Picture 5" descr="7e099c33-1585-4978-a5dd-a07293ba61b5.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ASK: $500K TO ACCELERATE GROWTH</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Seeking </a:t>
            </a:r>
            <a:r>
              <a:rPr i="0" sz="2800" b="1">
                <a:solidFill>
                  <a:srgbClr val="FA7532"/>
                </a:solidFill>
                <a:latin typeface="Arial"/>
              </a:rPr>
              <a:t>$500,000</a:t>
            </a:r>
            <a:r>
              <a:rPr i="0" sz="2800" b="0">
                <a:solidFill>
                  <a:srgbClr val="000000"/>
                </a:solidFill>
                <a:latin typeface="Arial"/>
              </a:rPr>
              <a:t> to finalize AI development and market launch.</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Funds will drive </a:t>
            </a:r>
            <a:r>
              <a:rPr i="0" sz="2800" b="1">
                <a:solidFill>
                  <a:srgbClr val="FA7532"/>
                </a:solidFill>
                <a:latin typeface="Arial"/>
              </a:rPr>
              <a:t>product deployment</a:t>
            </a:r>
            <a:r>
              <a:rPr i="0" sz="2800" b="0">
                <a:solidFill>
                  <a:srgbClr val="000000"/>
                </a:solidFill>
                <a:latin typeface="Arial"/>
              </a:rPr>
              <a:t> and initial customer acquisition.</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Securing a </a:t>
            </a:r>
            <a:r>
              <a:rPr i="0" sz="2800" b="1">
                <a:solidFill>
                  <a:srgbClr val="FA7532"/>
                </a:solidFill>
                <a:latin typeface="Arial"/>
              </a:rPr>
              <a:t>12-18 month runway</a:t>
            </a:r>
            <a:r>
              <a:rPr i="0" sz="2800" b="0">
                <a:solidFill>
                  <a:srgbClr val="000000"/>
                </a:solidFill>
                <a:latin typeface="Arial"/>
              </a:rPr>
              <a:t> for market leadership.</a:t>
            </a:r>
          </a:p>
        </p:txBody>
      </p:sp>
      <p:pic>
        <p:nvPicPr>
          <p:cNvPr id="6" name="Picture 5" descr="7e099c33-1585-4978-a5dd-a07293ba61b5.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93d03e65-2907-4221-9c38-9a216ddab645.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