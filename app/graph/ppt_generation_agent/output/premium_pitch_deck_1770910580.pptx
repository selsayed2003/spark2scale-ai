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Launching a startup is incredibly challenging, especially in the early stages. Founders are often caught between validating a nascent idea and preparing compelling documents to attract investment. The current landscape offers generic solutions that simply don't cut it, leading to significant waste of time and money. Our research confirms this is a major pain point, scoring a high 78 out of 100.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Tabaani acts as an indispensable AI co-founder, guiding early-stage startups through the complex process of validating their ideas and preparing for investment. Our platform generates tailored evaluation reports and automates essential business documents, providing a high degree of solution fit. This directly alleviates founder pain points, saving them significant time and resources.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market for AI-powered startup tools is substantial and rapidly expanding globally, estimated at $10 billion. We are strategically targeting the MENA region's early-stage evaluation market, a significant $500 million opportunity. Our initial achievable market (SOM) is projected at $25 million, and our software-centric model allows for rapid, cost-effective global scaling.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Minimum Viable Product is built upon proprietary AI algorithms specifically engineered for startup idea scoring and document generation. This specialized focus is our key differentiator. The AI-generated reports and automated documents provide immense value, saving founders significant time and effort, thereby fostering strong user retention.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employ a Freemium business model to maximize user acquisition and market reach. Our average ticket price for premium features is set at $400. While our current monthly burn is $120,000, leading to an initial 80-month break-even projection, we are aggressively optimizing our conversion funnels and cost efficiencies to significantly shorten this runway. Our strategy focuses on demonstrating clear, quantifiable value in our paid offerings.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we are pre-seed with no active users, our traction is grounded in strong qualitative validation. We've conducted 15 in-depth interviews with early-stage founders who unequivocally confirmed the need for our specialized solution. Feedback consistently points to the inadequacy of current generic AI tools and the critical need for clear, actionable evaluation guidance. Our immediate focus is on refining the MVP based on this feedback and developing a precise go-to-market strategy.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team is exceptionally well-equipped to address this market need. Ahmed Hassan, our CEO, has five years of direct experience as a startup consultant specifically within the MENA region. Our CTO, Mona Ali, is a skilled ML Engineer with four years of experience. Sara Khaled, our COO, brings six years of robust operational management expertise. This blend of technical, operational, and regional market knowledge gives us a significant advantage.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seeking $500,000 in Pre-Seed funding to accelerate Tabaani's growth trajectory. These funds are critical for enhancing our core AI capabilities, ensuring robust platform deployment, and executing a targeted customer acquisition strategy designed to capture our initial market share. Our target close date for this funding round is June 1, 2026.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2540000"/>
            <a:ext cx="14249400" cy="2540000"/>
          </a:xfrm>
          <a:prstGeom prst="rect">
            <a:avLst/>
          </a:prstGeom>
          <a:noFill/>
        </p:spPr>
        <p:txBody>
          <a:bodyPr wrap="square" lIns="0" rIns="0" tIns="0" bIns="0">
            <a:spAutoFit/>
          </a:bodyPr>
          <a:lstStyle/>
          <a:p>
            <a:pPr algn="ctr">
              <a:defRPr i="0" sz="8000" b="1">
                <a:solidFill>
                  <a:srgbClr val="FD9D27"/>
                </a:solidFill>
                <a:latin typeface="Arial"/>
              </a:defRPr>
            </a:pPr>
            <a:r>
              <a:rPr i="0" sz="8000" b="1">
                <a:solidFill>
                  <a:srgbClr val="FD9D27"/>
                </a:solidFill>
                <a:latin typeface="Arial"/>
              </a:rPr>
              <a:t>Tabaani: AI-Powered Startup Velocity</a:t>
            </a:r>
          </a:p>
        </p:txBody>
      </p:sp>
      <p:sp>
        <p:nvSpPr>
          <p:cNvPr id="3" name="TextBox 2"/>
          <p:cNvSpPr txBox="1"/>
          <p:nvPr/>
        </p:nvSpPr>
        <p:spPr>
          <a:xfrm>
            <a:off x="1016000" y="5842000"/>
            <a:ext cx="14249400" cy="1016000"/>
          </a:xfrm>
          <a:prstGeom prst="rect">
            <a:avLst/>
          </a:prstGeom>
          <a:noFill/>
        </p:spPr>
        <p:txBody>
          <a:bodyPr wrap="square" lIns="0" rIns="0" tIns="0" bIns="0">
            <a:spAutoFit/>
          </a:bodyPr>
          <a:lstStyle/>
          <a:p>
            <a:pPr algn="ctr">
              <a:defRPr i="0" sz="2400" b="1">
                <a:solidFill>
                  <a:srgbClr val="FA7532"/>
                </a:solidFill>
                <a:latin typeface="Arial"/>
              </a:defRPr>
            </a:pPr>
            <a:r>
              <a:rPr i="0" sz="2400" b="1">
                <a:solidFill>
                  <a:srgbClr val="FA7532"/>
                </a:solidFill>
                <a:latin typeface="Arial"/>
              </a:rPr>
              <a:t>POWERED BY SPARK2SCALE AI</a:t>
            </a:r>
          </a:p>
        </p:txBody>
      </p:sp>
      <p:pic>
        <p:nvPicPr>
          <p:cNvPr id="4" name="Picture 3" descr="58943446-0a67-4772-87d7-2de4eda0b121.png"/>
          <p:cNvPicPr>
            <a:picLocks noChangeAspect="1"/>
          </p:cNvPicPr>
          <p:nvPr/>
        </p:nvPicPr>
        <p:blipFill>
          <a:blip r:embed="rId2"/>
          <a:stretch>
            <a:fillRect/>
          </a:stretch>
        </p:blipFill>
        <p:spPr>
          <a:xfrm>
            <a:off x="635000" y="635000"/>
            <a:ext cx="1905000" cy="1270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D9D27"/>
                </a:solidFill>
                <a:latin typeface="Arial"/>
              </a:defRPr>
            </a:pPr>
            <a:r>
              <a:rPr i="0" sz="5400" b="1">
                <a:solidFill>
                  <a:srgbClr val="FD9D27"/>
                </a:solidFill>
                <a:latin typeface="Arial"/>
              </a:rPr>
              <a:t>THE FOUNDER'S GAUNTLET: IDEA TO INVESTOR-READY</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Launching a startup is tough – founders often bet big on ideas that aren't ready for prime time.</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Generic tools fail founders, costing them precious </a:t>
            </a:r>
            <a:r>
              <a:rPr i="0" sz="2800" b="1">
                <a:solidFill>
                  <a:srgbClr val="FA7532"/>
                </a:solidFill>
                <a:latin typeface="Arial"/>
              </a:rPr>
              <a:t>time and capital</a:t>
            </a:r>
            <a:r>
              <a:rPr i="0" sz="2800" b="0">
                <a:solidFill>
                  <a:srgbClr val="000000"/>
                </a:solidFill>
                <a:latin typeface="Arial"/>
              </a:rPr>
              <a:t>.</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We've validated a critical </a:t>
            </a:r>
            <a:r>
              <a:rPr i="0" sz="2800" b="1">
                <a:solidFill>
                  <a:srgbClr val="FA7532"/>
                </a:solidFill>
                <a:latin typeface="Arial"/>
              </a:rPr>
              <a:t>78/100 pain score</a:t>
            </a:r>
            <a:r>
              <a:rPr i="0" sz="2800" b="0">
                <a:solidFill>
                  <a:srgbClr val="000000"/>
                </a:solidFill>
                <a:latin typeface="Arial"/>
              </a:rPr>
              <a:t> among early-stage founders.</a:t>
            </a:r>
          </a:p>
        </p:txBody>
      </p:sp>
      <p:pic>
        <p:nvPicPr>
          <p:cNvPr id="6" name="Picture 5" descr="65391ba8-134a-4954-9876-3775b8692a33.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316f6fa6-b65e-4135-bec2-70b94cdea8a3.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D9D27"/>
                </a:solidFill>
                <a:latin typeface="Arial"/>
              </a:defRPr>
            </a:pPr>
            <a:r>
              <a:rPr i="0" sz="5400" b="1">
                <a:solidFill>
                  <a:srgbClr val="FD9D27"/>
                </a:solidFill>
                <a:latin typeface="Arial"/>
              </a:rPr>
              <a:t>TABAANI: YOUR AI CO-FOUNDER FOR STARTUP VELOCITY</a:t>
            </a:r>
          </a:p>
        </p:txBody>
      </p:sp>
      <p:sp>
        <p:nvSpPr>
          <p:cNvPr id="3" name="TextBox 2"/>
          <p:cNvSpPr txBox="1"/>
          <p:nvPr/>
        </p:nvSpPr>
        <p:spPr>
          <a:xfrm>
            <a:off x="762000" y="2540000"/>
            <a:ext cx="4597400" cy="5715000"/>
          </a:xfrm>
          <a:prstGeom prst="rect">
            <a:avLst/>
          </a:prstGeom>
          <a:noFill/>
        </p:spPr>
        <p:txBody>
          <a:bodyPr wrap="square" lIns="0" rIns="0" tIns="0" bIns="0">
            <a:spAutoFit/>
          </a:bodyPr>
          <a:lstStyle/>
          <a:p>
            <a:pPr algn="ctr">
              <a:defRPr i="0" sz="3200" b="0">
                <a:solidFill>
                  <a:srgbClr val="000000"/>
                </a:solidFill>
                <a:latin typeface="Arial"/>
              </a:defRPr>
            </a:pPr>
            <a:r>
              <a:rPr i="0" sz="3200" b="0">
                <a:solidFill>
                  <a:srgbClr val="000000"/>
                </a:solidFill>
                <a:latin typeface="Arial"/>
              </a:rPr>
              <a:t>Tabaani is the AI co-founder every startup needs, transforming concepts into investor-ready ventures.</a:t>
            </a:r>
          </a:p>
        </p:txBody>
      </p:sp>
      <p:sp>
        <p:nvSpPr>
          <p:cNvPr id="4" name="TextBox 3"/>
          <p:cNvSpPr txBox="1"/>
          <p:nvPr/>
        </p:nvSpPr>
        <p:spPr>
          <a:xfrm>
            <a:off x="5842000" y="2540000"/>
            <a:ext cx="4597400" cy="5715000"/>
          </a:xfrm>
          <a:prstGeom prst="rect">
            <a:avLst/>
          </a:prstGeom>
          <a:noFill/>
        </p:spPr>
        <p:txBody>
          <a:bodyPr wrap="square" lIns="0" rIns="0" tIns="0" bIns="0">
            <a:spAutoFit/>
          </a:bodyPr>
          <a:lstStyle/>
          <a:p>
            <a:pPr algn="ctr">
              <a:defRPr i="0" sz="3200" b="0">
                <a:solidFill>
                  <a:srgbClr val="000000"/>
                </a:solidFill>
                <a:latin typeface="Arial"/>
              </a:defRPr>
            </a:pPr>
            <a:r>
              <a:rPr i="0" sz="3200" b="0">
                <a:solidFill>
                  <a:srgbClr val="000000"/>
                </a:solidFill>
                <a:latin typeface="Arial"/>
              </a:rPr>
              <a:t>Our AI-powered reports slash validation time and dramatically boost investor readiness.</a:t>
            </a:r>
          </a:p>
        </p:txBody>
      </p:sp>
      <p:sp>
        <p:nvSpPr>
          <p:cNvPr id="5" name="TextBox 4"/>
          <p:cNvSpPr txBox="1"/>
          <p:nvPr/>
        </p:nvSpPr>
        <p:spPr>
          <a:xfrm>
            <a:off x="10922000" y="2540000"/>
            <a:ext cx="4597400" cy="5715000"/>
          </a:xfrm>
          <a:prstGeom prst="rect">
            <a:avLst/>
          </a:prstGeom>
          <a:noFill/>
        </p:spPr>
        <p:txBody>
          <a:bodyPr wrap="square" lIns="0" rIns="0" tIns="0" bIns="0">
            <a:spAutoFit/>
          </a:bodyPr>
          <a:lstStyle/>
          <a:p>
            <a:pPr algn="ctr">
              <a:defRPr i="0" sz="3200" b="0">
                <a:solidFill>
                  <a:srgbClr val="000000"/>
                </a:solidFill>
                <a:latin typeface="Arial"/>
              </a:defRPr>
            </a:pPr>
            <a:r>
              <a:rPr i="0" sz="3200" b="0">
                <a:solidFill>
                  <a:srgbClr val="000000"/>
                </a:solidFill>
                <a:latin typeface="Arial"/>
              </a:rPr>
              <a:t>Experience a </a:t>
            </a:r>
            <a:r>
              <a:rPr i="0" sz="3200" b="1">
                <a:solidFill>
                  <a:srgbClr val="FA7532"/>
                </a:solidFill>
                <a:latin typeface="Arial"/>
              </a:rPr>
              <a:t>high solution fit</a:t>
            </a:r>
            <a:r>
              <a:rPr i="0" sz="3200" b="0">
                <a:solidFill>
                  <a:srgbClr val="000000"/>
                </a:solidFill>
                <a:latin typeface="Arial"/>
              </a:rPr>
              <a:t>: Tabaani tackles founder confusion head-on, saving critical resources.</a:t>
            </a:r>
          </a:p>
        </p:txBody>
      </p:sp>
      <p:pic>
        <p:nvPicPr>
          <p:cNvPr id="6" name="Picture 5" descr="316f6fa6-b65e-4135-bec2-70b94cdea8a3.png"/>
          <p:cNvPicPr>
            <a:picLocks noChangeAspect="1"/>
          </p:cNvPicPr>
          <p:nvPr/>
        </p:nvPicPr>
        <p:blipFill>
          <a:blip r:embed="rId3"/>
          <a:stretch>
            <a:fillRect/>
          </a:stretch>
        </p:blipFill>
        <p:spPr>
          <a:xfrm>
            <a:off x="13970000" y="381000"/>
            <a:ext cx="1524000" cy="1016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D9D27"/>
                </a:solidFill>
                <a:latin typeface="Arial"/>
              </a:defRPr>
            </a:pPr>
            <a:r>
              <a:rPr i="0" sz="5400" b="1">
                <a:solidFill>
                  <a:srgbClr val="FD9D27"/>
                </a:solidFill>
                <a:latin typeface="Arial"/>
              </a:rPr>
              <a:t>A $10 BILLION GLOBAL MARKET RIPE FOR DISRUPTION</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We're tapping into the </a:t>
            </a:r>
            <a:r>
              <a:rPr i="0" sz="2800" b="1">
                <a:solidFill>
                  <a:srgbClr val="FA7532"/>
                </a:solidFill>
                <a:latin typeface="Arial"/>
              </a:rPr>
              <a:t>$10 Billion global market</a:t>
            </a:r>
            <a:r>
              <a:rPr i="0" sz="2800" b="0">
                <a:solidFill>
                  <a:srgbClr val="000000"/>
                </a:solidFill>
                <a:latin typeface="Arial"/>
              </a:rPr>
              <a:t> for AI-driven startup support.</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Our beachhead is the </a:t>
            </a:r>
            <a:r>
              <a:rPr i="0" sz="2800" b="1">
                <a:solidFill>
                  <a:srgbClr val="FA7532"/>
                </a:solidFill>
                <a:latin typeface="Arial"/>
              </a:rPr>
              <a:t>$500 Million MENA market</a:t>
            </a:r>
            <a:r>
              <a:rPr i="0" sz="2800" b="0">
                <a:solidFill>
                  <a:srgbClr val="000000"/>
                </a:solidFill>
                <a:latin typeface="Arial"/>
              </a:rPr>
              <a:t> for specialized AI early-stage evaluation.</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We project capturing </a:t>
            </a:r>
            <a:r>
              <a:rPr i="0" sz="2800" b="1">
                <a:solidFill>
                  <a:srgbClr val="FA7532"/>
                </a:solidFill>
                <a:latin typeface="Arial"/>
              </a:rPr>
              <a:t>$25 Million</a:t>
            </a:r>
            <a:r>
              <a:rPr i="0" sz="2800" b="0">
                <a:solidFill>
                  <a:srgbClr val="000000"/>
                </a:solidFill>
                <a:latin typeface="Arial"/>
              </a:rPr>
              <a:t> of this market annually, with highly scalable software.</a:t>
            </a:r>
          </a:p>
        </p:txBody>
      </p:sp>
      <p:pic>
        <p:nvPicPr>
          <p:cNvPr id="6" name="Picture 5" descr="6a21c3a9-45d4-4ea1-a2b9-1ba6a3376730.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316f6fa6-b65e-4135-bec2-70b94cdea8a3.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D9D27"/>
                </a:solidFill>
                <a:latin typeface="Arial"/>
              </a:defRPr>
            </a:pPr>
            <a:r>
              <a:rPr i="0" sz="5400" b="1">
                <a:solidFill>
                  <a:srgbClr val="FD9D27"/>
                </a:solidFill>
                <a:latin typeface="Arial"/>
              </a:rPr>
              <a:t>AI THAT BUILDS INVESTOR CONFIDENCE</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Proprietary AI for pinpoint idea validation and instant investor-ready documents.</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Unmatched specialization in startup evaluation, outperforming generic AI solutions.</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Our AI-driven reports create </a:t>
            </a:r>
            <a:r>
              <a:rPr i="0" sz="2800" b="1">
                <a:solidFill>
                  <a:srgbClr val="FA7532"/>
                </a:solidFill>
                <a:latin typeface="Arial"/>
              </a:rPr>
              <a:t>deep user stickiness</a:t>
            </a:r>
            <a:r>
              <a:rPr i="0" sz="2800" b="0">
                <a:solidFill>
                  <a:srgbClr val="000000"/>
                </a:solidFill>
                <a:latin typeface="Arial"/>
              </a:rPr>
              <a:t> by saving founders hours weekly.</a:t>
            </a:r>
          </a:p>
        </p:txBody>
      </p:sp>
      <p:pic>
        <p:nvPicPr>
          <p:cNvPr id="6" name="Picture 5" descr="6fe2520d-266c-4cd2-ad6d-ee9ef6585d40.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316f6fa6-b65e-4135-bec2-70b94cdea8a3.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D9D27"/>
                </a:solidFill>
                <a:latin typeface="Arial"/>
              </a:defRPr>
            </a:pPr>
            <a:r>
              <a:rPr i="0" sz="5400" b="1">
                <a:solidFill>
                  <a:srgbClr val="FD9D27"/>
                </a:solidFill>
                <a:latin typeface="Arial"/>
              </a:rPr>
              <a:t>PATH TO PROFITABILITY: ACCELERATING BREAK-EVEN</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Our Freemium model is designed for rapid user acquisition and market penetration.</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Targeting an average ticket price of $400 for premium features.</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While our current model projects break-even in 80 months, this investment will fuel aggressive strategies to achieve profitability within 3-4 years.</a:t>
            </a:r>
          </a:p>
        </p:txBody>
      </p:sp>
      <p:pic>
        <p:nvPicPr>
          <p:cNvPr id="6" name="Picture 5" descr="23573cde-d742-47e9-b542-c9859ce24dd1.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316f6fa6-b65e-4135-bec2-70b94cdea8a3.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D9D27"/>
                </a:solidFill>
                <a:latin typeface="Arial"/>
              </a:defRPr>
            </a:pPr>
            <a:r>
              <a:rPr i="0" sz="5400" b="1">
                <a:solidFill>
                  <a:srgbClr val="FD9D27"/>
                </a:solidFill>
                <a:latin typeface="Arial"/>
              </a:rPr>
              <a:t>VALIDATED DEMAND, PRE-SEED FOCUS</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1">
                <a:solidFill>
                  <a:srgbClr val="FA7532"/>
                </a:solidFill>
                <a:latin typeface="Arial"/>
              </a:rPr>
              <a:t>15 founder interviews</a:t>
            </a:r>
            <a:r>
              <a:rPr i="0" sz="2800" b="0">
                <a:solidFill>
                  <a:srgbClr val="000000"/>
                </a:solidFill>
                <a:latin typeface="Arial"/>
              </a:rPr>
              <a:t> confirm an urgent need for specialized AI validation.</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Pilot feedback highlights the demand for </a:t>
            </a:r>
            <a:r>
              <a:rPr i="0" sz="2800" b="1">
                <a:solidFill>
                  <a:srgbClr val="FA7532"/>
                </a:solidFill>
                <a:latin typeface="Arial"/>
              </a:rPr>
              <a:t>clear evaluation guidance</a:t>
            </a:r>
            <a:r>
              <a:rPr i="0" sz="2800" b="0">
                <a:solidFill>
                  <a:srgbClr val="000000"/>
                </a:solidFill>
                <a:latin typeface="Arial"/>
              </a:rPr>
              <a:t> over generic tools.</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We are currently pre-seed, focusing on MVP refinement and a targeted GTM strategy to build initial traction.</a:t>
            </a:r>
          </a:p>
        </p:txBody>
      </p:sp>
      <p:pic>
        <p:nvPicPr>
          <p:cNvPr id="6" name="Picture 5" descr="6fe2520d-266c-4cd2-ad6d-ee9ef6585d40.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316f6fa6-b65e-4135-bec2-70b94cdea8a3.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D9D27"/>
                </a:solidFill>
                <a:latin typeface="Arial"/>
              </a:defRPr>
            </a:pPr>
            <a:r>
              <a:rPr i="0" sz="5400" b="1">
                <a:solidFill>
                  <a:srgbClr val="FD9D27"/>
                </a:solidFill>
                <a:latin typeface="Arial"/>
              </a:rPr>
              <a:t>THE POWERHOUSE TEAM: AI &amp; MENA STARTUP SAVVY</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Led by CEO Ahmed Hassan, a </a:t>
            </a:r>
            <a:r>
              <a:rPr i="0" sz="2800" b="1">
                <a:solidFill>
                  <a:srgbClr val="FA7532"/>
                </a:solidFill>
                <a:latin typeface="Arial"/>
              </a:rPr>
              <a:t>5-year veteran</a:t>
            </a:r>
            <a:r>
              <a:rPr i="0" sz="2800" b="0">
                <a:solidFill>
                  <a:srgbClr val="000000"/>
                </a:solidFill>
                <a:latin typeface="Arial"/>
              </a:rPr>
              <a:t> startup consultant in MENA.</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CTO Mona Ali brings 4 years of experience as an </a:t>
            </a:r>
            <a:r>
              <a:rPr i="0" sz="2800" b="1">
                <a:solidFill>
                  <a:srgbClr val="FA7532"/>
                </a:solidFill>
                <a:latin typeface="Arial"/>
              </a:rPr>
              <a:t>ML Engineer</a:t>
            </a:r>
            <a:r>
              <a:rPr i="0" sz="2800" b="0">
                <a:solidFill>
                  <a:srgbClr val="000000"/>
                </a:solidFill>
                <a:latin typeface="Arial"/>
              </a:rPr>
              <a:t> at TechLabs.</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COO Sara Khaled ensures operational excellence with 6 years of </a:t>
            </a:r>
            <a:r>
              <a:rPr i="0" sz="2800" b="1">
                <a:solidFill>
                  <a:srgbClr val="FA7532"/>
                </a:solidFill>
                <a:latin typeface="Arial"/>
              </a:rPr>
              <a:t>operations management</a:t>
            </a:r>
            <a:r>
              <a:rPr i="0" sz="2800" b="0">
                <a:solidFill>
                  <a:srgbClr val="000000"/>
                </a:solidFill>
                <a:latin typeface="Arial"/>
              </a:rPr>
              <a:t>.</a:t>
            </a:r>
          </a:p>
        </p:txBody>
      </p:sp>
      <p:pic>
        <p:nvPicPr>
          <p:cNvPr id="6" name="Picture 5" descr="6fe2520d-266c-4cd2-ad6d-ee9ef6585d40.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316f6fa6-b65e-4135-bec2-70b94cdea8a3.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62000" y="508000"/>
            <a:ext cx="14757400" cy="1270000"/>
          </a:xfrm>
          <a:prstGeom prst="rect">
            <a:avLst/>
          </a:prstGeom>
          <a:noFill/>
        </p:spPr>
        <p:txBody>
          <a:bodyPr wrap="square" lIns="0" rIns="0" tIns="0" bIns="0">
            <a:spAutoFit/>
          </a:bodyPr>
          <a:lstStyle/>
          <a:p>
            <a:pPr>
              <a:defRPr i="0" sz="5400" b="1">
                <a:solidFill>
                  <a:srgbClr val="FD9D27"/>
                </a:solidFill>
                <a:latin typeface="Arial"/>
              </a:defRPr>
            </a:pPr>
            <a:r>
              <a:rPr i="0" sz="5400" b="1">
                <a:solidFill>
                  <a:srgbClr val="FD9D27"/>
                </a:solidFill>
                <a:latin typeface="Arial"/>
              </a:rPr>
              <a:t>THE ASK: $500K TO FUEL VELOCITY</a:t>
            </a:r>
          </a:p>
        </p:txBody>
      </p:sp>
      <p:sp>
        <p:nvSpPr>
          <p:cNvPr id="3" name="TextBox 2"/>
          <p:cNvSpPr txBox="1"/>
          <p:nvPr/>
        </p:nvSpPr>
        <p:spPr>
          <a:xfrm>
            <a:off x="762000" y="2032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Seeking </a:t>
            </a:r>
            <a:r>
              <a:rPr i="0" sz="2800" b="1">
                <a:solidFill>
                  <a:srgbClr val="FA7532"/>
                </a:solidFill>
                <a:latin typeface="Arial"/>
              </a:rPr>
              <a:t>$500,000</a:t>
            </a:r>
            <a:r>
              <a:rPr i="0" sz="2800" b="0">
                <a:solidFill>
                  <a:srgbClr val="000000"/>
                </a:solidFill>
                <a:latin typeface="Arial"/>
              </a:rPr>
              <a:t> in Pre-Seed funding.</a:t>
            </a:r>
          </a:p>
        </p:txBody>
      </p:sp>
      <p:sp>
        <p:nvSpPr>
          <p:cNvPr id="4" name="TextBox 3"/>
          <p:cNvSpPr txBox="1"/>
          <p:nvPr/>
        </p:nvSpPr>
        <p:spPr>
          <a:xfrm>
            <a:off x="762000" y="41275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Funds will accelerate </a:t>
            </a:r>
            <a:r>
              <a:rPr i="0" sz="2800" b="1">
                <a:solidFill>
                  <a:srgbClr val="FA7532"/>
                </a:solidFill>
                <a:latin typeface="Arial"/>
              </a:rPr>
              <a:t>AI model development</a:t>
            </a:r>
            <a:r>
              <a:rPr i="0" sz="2800" b="0">
                <a:solidFill>
                  <a:srgbClr val="000000"/>
                </a:solidFill>
                <a:latin typeface="Arial"/>
              </a:rPr>
              <a:t> and platform deployment.</a:t>
            </a:r>
          </a:p>
        </p:txBody>
      </p:sp>
      <p:sp>
        <p:nvSpPr>
          <p:cNvPr id="5" name="TextBox 4"/>
          <p:cNvSpPr txBox="1"/>
          <p:nvPr/>
        </p:nvSpPr>
        <p:spPr>
          <a:xfrm>
            <a:off x="762000" y="6223000"/>
            <a:ext cx="7137400" cy="1968500"/>
          </a:xfrm>
          <a:prstGeom prst="rect">
            <a:avLst/>
          </a:prstGeom>
          <a:noFill/>
        </p:spPr>
        <p:txBody>
          <a:bodyPr wrap="square" lIns="0" rIns="0" tIns="0" bIns="0">
            <a:spAutoFit/>
          </a:bodyPr>
          <a:lstStyle/>
          <a:p>
            <a:pPr>
              <a:defRPr i="0" sz="2800" b="0">
                <a:solidFill>
                  <a:srgbClr val="000000"/>
                </a:solidFill>
                <a:latin typeface="Arial"/>
              </a:defRPr>
            </a:pPr>
            <a:r>
              <a:rPr i="0" sz="2800" b="0">
                <a:solidFill>
                  <a:srgbClr val="000000"/>
                </a:solidFill>
                <a:latin typeface="Arial"/>
              </a:rPr>
              <a:t>This investment will fuel a targeted </a:t>
            </a:r>
            <a:r>
              <a:rPr i="0" sz="2800" b="1">
                <a:solidFill>
                  <a:srgbClr val="FA7532"/>
                </a:solidFill>
                <a:latin typeface="Arial"/>
              </a:rPr>
              <a:t>customer acquisition strategy</a:t>
            </a:r>
            <a:r>
              <a:rPr i="0" sz="2800" b="0">
                <a:solidFill>
                  <a:srgbClr val="000000"/>
                </a:solidFill>
                <a:latin typeface="Arial"/>
              </a:rPr>
              <a:t> to secure early adopters.</a:t>
            </a:r>
          </a:p>
        </p:txBody>
      </p:sp>
      <p:pic>
        <p:nvPicPr>
          <p:cNvPr id="6" name="Picture 5" descr="a43af1c0-2742-4fae-b80c-ccbea22c46b1.png"/>
          <p:cNvPicPr>
            <a:picLocks noChangeAspect="1"/>
          </p:cNvPicPr>
          <p:nvPr/>
        </p:nvPicPr>
        <p:blipFill>
          <a:blip r:embed="rId3"/>
          <a:stretch>
            <a:fillRect/>
          </a:stretch>
        </p:blipFill>
        <p:spPr>
          <a:xfrm>
            <a:off x="8382000" y="2032000"/>
            <a:ext cx="7112000" cy="6096000"/>
          </a:xfrm>
          <a:prstGeom prst="rect">
            <a:avLst/>
          </a:prstGeom>
        </p:spPr>
      </p:pic>
      <p:pic>
        <p:nvPicPr>
          <p:cNvPr id="7" name="Picture 6" descr="316f6fa6-b65e-4135-bec2-70b94cdea8a3.png"/>
          <p:cNvPicPr>
            <a:picLocks noChangeAspect="1"/>
          </p:cNvPicPr>
          <p:nvPr/>
        </p:nvPicPr>
        <p:blipFill>
          <a:blip r:embed="rId4"/>
          <a:stretch>
            <a:fillRect/>
          </a:stretch>
        </p:blipFill>
        <p:spPr>
          <a:xfrm>
            <a:off x="13970000" y="381000"/>
            <a:ext cx="1524000" cy="101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