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Tabaani as the AI solution for early-stage founders. Highlight the common struggle of idea validation and investor outreach. Emphasize how Tabaani simplifies this complex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 deeper into the problem Tabaani solves. Quantify the pain with the 78/100 score and the high failure rate. Explain why current solutions fall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Tabaani's solution. Focus on the AI's ability to provide specific, actionable insights and documents. Highlight the 'solution fit'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market size. Explain TAM, SAM, and SOM. Emphasize the scalability of a software-based AI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the validation. Share the key takeaways from founder interviews and the 'High' solution fit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transparent about current traction (pre-seed stage). Outline the immediate focus for development and customer acquisition. Explain the GTM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core team, highlighting relevant experience and founder-market fit. Emphasize the blend of business, tech, and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freemium model and the average revenue per customer. Address the financial situation – high burn rate and negative profit – and the long break-even period (80 months) as an area needing further discussion and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Clearly state the funding ask and how it will be used. Reiterate the vision and the opportunity for investors to be part of Tabaani's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921000"/>
            <a:ext cx="14249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6400" b="1">
                <a:solidFill>
                  <a:srgbClr val="4A90E2"/>
                </a:solidFill>
                <a:latin typeface="Arial"/>
              </a:defRPr>
            </a:pPr>
            <a:r>
              <a:rPr i="0" sz="6400" b="1">
                <a:solidFill>
                  <a:srgbClr val="4A90E2"/>
                </a:solidFill>
                <a:latin typeface="Arial"/>
              </a:rPr>
              <a:t>Tabaani: AI for Startup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6000" y="55880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2000" b="1">
                <a:solidFill>
                  <a:srgbClr val="F5A623"/>
                </a:solidFill>
                <a:latin typeface="Arial"/>
              </a:defRPr>
            </a:pPr>
            <a:r>
              <a:rPr i="0" sz="2000" b="1">
                <a:solidFill>
                  <a:srgbClr val="F5A623"/>
                </a:solidFill>
                <a:latin typeface="Arial"/>
              </a:rPr>
              <a:t>POWERED BY SPARK2SCALE AI</a:t>
            </a:r>
          </a:p>
        </p:txBody>
      </p:sp>
      <p:pic>
        <p:nvPicPr>
          <p:cNvPr id="4" name="Picture 3" descr="14a793b1-148a-4e66-b522-dda4082b92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635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47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4A90E2"/>
                </a:solidFill>
                <a:latin typeface="Arial"/>
              </a:defRPr>
            </a:pPr>
            <a:r>
              <a:rPr i="0" sz="4000" b="1">
                <a:solidFill>
                  <a:srgbClr val="4A90E2"/>
                </a:solidFill>
                <a:latin typeface="Arial"/>
              </a:rPr>
              <a:t>FOUNDERS ARE STUCK. WE FIX THAT.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Navigating the startup journey is tough. You need to validate ideas and impress investors, but where do you start?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116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Tabaani provides an AI-powered platform to </a:t>
            </a:r>
            <a:r>
              <a:rPr i="0" sz="2200" b="1">
                <a:solidFill>
                  <a:srgbClr val="F5A623"/>
                </a:solidFill>
                <a:latin typeface="Arial"/>
              </a:rPr>
              <a:t>streamline</a:t>
            </a:r>
            <a:r>
              <a:rPr i="0" sz="2200" b="0">
                <a:solidFill>
                  <a:srgbClr val="000000"/>
                </a:solidFill>
                <a:latin typeface="Arial"/>
              </a:rPr>
              <a:t> your startup's early stages.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182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Get AI-guided evaluation, essential documents, and a clear path to investors.</a:t>
            </a:r>
          </a:p>
        </p:txBody>
      </p:sp>
      <p:pic>
        <p:nvPicPr>
          <p:cNvPr id="6" name="Picture 5" descr="eb0180ab-ff13-4b27-8179-b31fed8f2c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14a793b1-148a-4e66-b522-dda4082b92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47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4A90E2"/>
                </a:solidFill>
                <a:latin typeface="Arial"/>
              </a:defRPr>
            </a:pPr>
            <a:r>
              <a:rPr i="0" sz="4000" b="1">
                <a:solidFill>
                  <a:srgbClr val="4A90E2"/>
                </a:solidFill>
                <a:latin typeface="Arial"/>
              </a:rPr>
              <a:t>THE PROBLEM: LOST TIME, LOST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Early-stage founders spend countless hours on manual research and generic AI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116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This leads to </a:t>
            </a:r>
            <a:r>
              <a:rPr i="0" sz="2200" b="1">
                <a:solidFill>
                  <a:srgbClr val="F5A623"/>
                </a:solidFill>
                <a:latin typeface="Arial"/>
              </a:rPr>
              <a:t>costly</a:t>
            </a:r>
            <a:r>
              <a:rPr i="0" sz="2200" b="0">
                <a:solidFill>
                  <a:srgbClr val="000000"/>
                </a:solidFill>
                <a:latin typeface="Arial"/>
              </a:rPr>
              <a:t> mistakes and missed opportunities, with over 50% of startups failing early.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182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You need specialized guidance, not just general AI.</a:t>
            </a:r>
          </a:p>
        </p:txBody>
      </p:sp>
      <p:pic>
        <p:nvPicPr>
          <p:cNvPr id="6" name="Picture 5" descr="c93967a0-d4ea-4daf-8a9e-c228b935e9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14a793b1-148a-4e66-b522-dda4082b92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47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4A90E2"/>
                </a:solidFill>
                <a:latin typeface="Arial"/>
              </a:defRPr>
            </a:pPr>
            <a:r>
              <a:rPr i="0" sz="4000" b="1">
                <a:solidFill>
                  <a:srgbClr val="4A90E2"/>
                </a:solidFill>
                <a:latin typeface="Arial"/>
              </a:rPr>
              <a:t>OUR SOLUTION: AI-POWERED STARTUP CLARITY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Tabaani is your AI co-pilot for startup success.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116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We generate </a:t>
            </a:r>
            <a:r>
              <a:rPr i="0" sz="2200" b="1">
                <a:solidFill>
                  <a:srgbClr val="F5A623"/>
                </a:solidFill>
                <a:latin typeface="Arial"/>
              </a:rPr>
              <a:t>actionable evaluation reports</a:t>
            </a:r>
            <a:r>
              <a:rPr i="0" sz="2200" b="0">
                <a:solidFill>
                  <a:srgbClr val="000000"/>
                </a:solidFill>
                <a:latin typeface="Arial"/>
              </a:rPr>
              <a:t> and investor-ready documents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182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Our specialized AI understands the nuances of early-stage ventures.</a:t>
            </a:r>
          </a:p>
        </p:txBody>
      </p:sp>
      <p:pic>
        <p:nvPicPr>
          <p:cNvPr id="6" name="Picture 5" descr="ee7bfe55-90be-4567-a1a5-df88b9400f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14a793b1-148a-4e66-b522-dda4082b92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47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4A90E2"/>
                </a:solidFill>
                <a:latin typeface="Arial"/>
              </a:defRPr>
            </a:pPr>
            <a:r>
              <a:rPr i="0" sz="4000" b="1">
                <a:solidFill>
                  <a:srgbClr val="4A90E2"/>
                </a:solidFill>
                <a:latin typeface="Arial"/>
              </a:rPr>
              <a:t>MARKET OPPORTUNITY: A GROWING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We're tapping into a global market of $10 Billion for AI startup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116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Our initial focus on MENA's early-stage AI evaluation tools targets a $500 Million SAM.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182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We aim to capture $25 Million within our first few years.</a:t>
            </a:r>
          </a:p>
        </p:txBody>
      </p:sp>
      <p:pic>
        <p:nvPicPr>
          <p:cNvPr id="6" name="Picture 5" descr="6ce3b669-3159-4a80-9984-47e968fc77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14a793b1-148a-4e66-b522-dda4082b92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47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4A90E2"/>
                </a:solidFill>
                <a:latin typeface="Arial"/>
              </a:defRPr>
            </a:pPr>
            <a:r>
              <a:rPr i="0" sz="4000" b="1">
                <a:solidFill>
                  <a:srgbClr val="4A90E2"/>
                </a:solidFill>
                <a:latin typeface="Arial"/>
              </a:rPr>
              <a:t>VALIDATION: FOUNDERS NEED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We've spoken to 15 founders who confirm the need for structured evaluation.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116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Their feedback: 'Need clear guidance' and 'Current AI tools aren't specific enough'.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182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Tabaani's AI reports directly solve this </a:t>
            </a:r>
            <a:r>
              <a:rPr i="0" sz="2200" b="1">
                <a:solidFill>
                  <a:srgbClr val="F5A623"/>
                </a:solidFill>
                <a:latin typeface="Arial"/>
              </a:rPr>
              <a:t>high-impact</a:t>
            </a:r>
            <a:r>
              <a:rPr i="0" sz="2200" b="0">
                <a:solidFill>
                  <a:srgbClr val="000000"/>
                </a:solidFill>
                <a:latin typeface="Arial"/>
              </a:rPr>
              <a:t> problem.</a:t>
            </a:r>
          </a:p>
        </p:txBody>
      </p:sp>
      <p:pic>
        <p:nvPicPr>
          <p:cNvPr id="6" name="Picture 5" descr="f7e6e131-4ec5-4506-8746-90844f40a5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14a793b1-148a-4e66-b522-dda4082b92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47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4A90E2"/>
                </a:solidFill>
                <a:latin typeface="Arial"/>
              </a:defRPr>
            </a:pPr>
            <a:r>
              <a:rPr i="0" sz="4000" b="1">
                <a:solidFill>
                  <a:srgbClr val="4A90E2"/>
                </a:solidFill>
                <a:latin typeface="Arial"/>
              </a:rPr>
              <a:t>OUR TRACTION: BUILDING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We're currently in the MVP stage with 0 active users and $0 early revenue.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116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Our focus is on AI development, deployment, and acquiring our first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182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Our go-to-market strategy relies on </a:t>
            </a:r>
            <a:r>
              <a:rPr i="0" sz="2200" b="1">
                <a:solidFill>
                  <a:srgbClr val="F5A623"/>
                </a:solidFill>
                <a:latin typeface="Arial"/>
              </a:rPr>
              <a:t>strong</a:t>
            </a:r>
            <a:r>
              <a:rPr i="0" sz="2200" b="0">
                <a:solidFill>
                  <a:srgbClr val="000000"/>
                </a:solidFill>
                <a:latin typeface="Arial"/>
              </a:rPr>
              <a:t> word-of-mouth in startup communities.</a:t>
            </a:r>
          </a:p>
        </p:txBody>
      </p:sp>
      <p:pic>
        <p:nvPicPr>
          <p:cNvPr id="6" name="Picture 5" descr="cde4842f-1ad2-4541-b6b1-9f95b5419e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14a793b1-148a-4e66-b522-dda4082b92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47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4A90E2"/>
                </a:solidFill>
                <a:latin typeface="Arial"/>
              </a:defRPr>
            </a:pPr>
            <a:r>
              <a:rPr i="0" sz="4000" b="1">
                <a:solidFill>
                  <a:srgbClr val="4A90E2"/>
                </a:solidFill>
                <a:latin typeface="Arial"/>
              </a:rPr>
              <a:t>THE TEAM: EXPERTISE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Led by Ahmed Hassan (CEO), a startup consultant with 5 years of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116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Our CTO, Mona Ali, brings 4 years of ML engineering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182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Sara Khaled (COO) ensures seamless operations with 6 years of experience.</a:t>
            </a:r>
          </a:p>
        </p:txBody>
      </p:sp>
      <p:pic>
        <p:nvPicPr>
          <p:cNvPr id="6" name="Picture 5" descr="4e46af70-d39b-4de6-8a18-96ceafc6ee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14a793b1-148a-4e66-b522-dda4082b92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47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4A90E2"/>
                </a:solidFill>
                <a:latin typeface="Arial"/>
              </a:defRPr>
            </a:pPr>
            <a:r>
              <a:rPr i="0" sz="4000" b="1">
                <a:solidFill>
                  <a:srgbClr val="4A90E2"/>
                </a:solidFill>
                <a:latin typeface="Arial"/>
              </a:rPr>
              <a:t>BUSINESS MODEL: FREEMIUM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We operate on a freemium model, offering core AI evaluation tools for free.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116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Our average ticket price for premium features is $400.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182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With a monthly burn of $120K, we're focused on scaling to profitability.</a:t>
            </a:r>
          </a:p>
        </p:txBody>
      </p:sp>
      <p:pic>
        <p:nvPicPr>
          <p:cNvPr id="6" name="Picture 5" descr="b1888891-dccb-4954-a648-70d1c95768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14a793b1-148a-4e66-b522-dda4082b92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4757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4000" b="1">
                <a:solidFill>
                  <a:srgbClr val="4A90E2"/>
                </a:solidFill>
                <a:latin typeface="Arial"/>
              </a:defRPr>
            </a:pPr>
            <a:r>
              <a:rPr i="0" sz="4000" b="1">
                <a:solidFill>
                  <a:srgbClr val="4A90E2"/>
                </a:solidFill>
                <a:latin typeface="Arial"/>
              </a:rPr>
              <a:t>THE ASK: FUELING OUR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We are seeking $500,000 to fuel our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116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Funds will be allocated to AI model development, platform deployment, and aggressive customer acquisition.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918200"/>
            <a:ext cx="6883400" cy="184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i="0" sz="2200" b="0">
                <a:solidFill>
                  <a:srgbClr val="000000"/>
                </a:solidFill>
                <a:latin typeface="Arial"/>
              </a:defRPr>
            </a:pPr>
            <a:r>
              <a:rPr i="0" sz="2200" b="0">
                <a:solidFill>
                  <a:srgbClr val="000000"/>
                </a:solidFill>
                <a:latin typeface="Arial"/>
              </a:rPr>
              <a:t>Join us in becoming the </a:t>
            </a:r>
            <a:r>
              <a:rPr i="0" sz="2200" b="1">
                <a:solidFill>
                  <a:srgbClr val="F5A623"/>
                </a:solidFill>
                <a:latin typeface="Arial"/>
              </a:rPr>
              <a:t>leading AI startup evaluator</a:t>
            </a:r>
            <a:r>
              <a:rPr i="0" sz="2200" b="0">
                <a:solidFill>
                  <a:srgbClr val="000000"/>
                </a:solidFill>
                <a:latin typeface="Arial"/>
              </a:rPr>
              <a:t> in MENA.</a:t>
            </a:r>
          </a:p>
        </p:txBody>
      </p:sp>
      <p:pic>
        <p:nvPicPr>
          <p:cNvPr id="6" name="Picture 5" descr="663384e5-e604-4221-9570-4e07762915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905000"/>
            <a:ext cx="7112000" cy="5842000"/>
          </a:xfrm>
          <a:prstGeom prst="rect">
            <a:avLst/>
          </a:prstGeom>
        </p:spPr>
      </p:pic>
      <p:pic>
        <p:nvPicPr>
          <p:cNvPr id="7" name="Picture 6" descr="14a793b1-148a-4e66-b522-dda4082b92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0" y="381000"/>
            <a:ext cx="1524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