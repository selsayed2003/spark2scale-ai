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today's fast-paced startup world, founders are brilliant but often lack the structured framework to turn a great idea into a validated business. They're spending too much time on manual research and generic AI tools that just don't cut it. This isn't just an inconvenience; it's a critical bottleneck that leads to significant loss of time, money, and ultimately, startup failure.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Tabaani is the solution. We've built an AI specifically designed to guide early-stage founders. Think of us as your AI co-pilot. We help you rigorously validate your idea, understand its potential, and automatically generate the essential documents needed to attract investors. This isn't just about saving time; it's about de-risking the early stages of your venture.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opportunity is substantial. We're initially focusing on the MENA region, a rapidly growing startup ecosystem, with a Serviceable Addressable Market of $500 million for AI-driven startup evaluation. Our long-term vision is global, addressing a Total Addressable Market of $10 billion. We project capturing $25 million within our first few years.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just build this in a vacuum. We've validated the need directly with our target users. We achieved a high solution-fit score and a pain score of 78 out of 100, indicating a strong market pull. Our interviews with over 15 early-stage founders revealed a consistent frustration with generic AI tools, reinforcing the need for a specialized solution like Tabaani.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Tabaani unique? It's our proprietary AI. We've developed algorithms specifically for scoring startup ideas and generating investor-ready documents. This specialization is our core stickiness and creates a defensible moat. Unlike general AI tools, Tabaani provides sector-focused intelligence tailored for the startup journey.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is our strength. I'm Ahmed Hassan, CEO, with 5 years of experience guiding startups. Mona Ali, our CTO, brings 4 years of specialized AI and ML engineering experience. And Sara Khaled, our COO, has 6 years of operational expertise. Together, we have over 15 years of combined experience directly relevant to building and scaling Tabaani, with a deep understanding of the challenges founders face, especially in the MENA region.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is designed for accessibility and growth. We operate on a freemium basis, allowing founders to experience the value of Tabaani before committing. Our average revenue per customer is projected at $400. While our current monthly burn rate is $120,000, this is a critical phase for scaling customer acquisition and further AI development, which is why we are seeking investment.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accelerate our growth and capitalize on this opportunity, we are seeking $500,000 in Pre-Seed funding. These funds will be strategically deployed to enhance our AI capabilities, scale our marketing efforts to reach more founders, and build out our team. We invite you to join us in building the essential platform for startup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2540000"/>
            <a:ext cx="14249400" cy="2540000"/>
          </a:xfrm>
          <a:prstGeom prst="rect">
            <a:avLst/>
          </a:prstGeom>
          <a:noFill/>
        </p:spPr>
        <p:txBody>
          <a:bodyPr wrap="square" lIns="0" rIns="0" tIns="0" bIns="0">
            <a:spAutoFit/>
          </a:bodyPr>
          <a:lstStyle/>
          <a:p>
            <a:pPr algn="ctr">
              <a:defRPr i="0" sz="8000" b="1">
                <a:solidFill>
                  <a:srgbClr val="FFFFFF"/>
                </a:solidFill>
                <a:latin typeface="Arial"/>
              </a:defRPr>
            </a:pPr>
            <a:r>
              <a:rPr i="0" sz="8000" b="1">
                <a:solidFill>
                  <a:srgbClr val="FFFFFF"/>
                </a:solidFill>
                <a:latin typeface="Arial"/>
              </a:rPr>
              <a:t>Tabaani: AI-Powered Startup Validation</a:t>
            </a:r>
          </a:p>
        </p:txBody>
      </p:sp>
      <p:sp>
        <p:nvSpPr>
          <p:cNvPr id="3" name="TextBox 2"/>
          <p:cNvSpPr txBox="1"/>
          <p:nvPr/>
        </p:nvSpPr>
        <p:spPr>
          <a:xfrm>
            <a:off x="1016000" y="5842000"/>
            <a:ext cx="14249400" cy="1016000"/>
          </a:xfrm>
          <a:prstGeom prst="rect">
            <a:avLst/>
          </a:prstGeom>
          <a:noFill/>
        </p:spPr>
        <p:txBody>
          <a:bodyPr wrap="square" lIns="0" rIns="0" tIns="0" bIns="0">
            <a:spAutoFit/>
          </a:bodyPr>
          <a:lstStyle/>
          <a:p>
            <a:pPr algn="ctr">
              <a:defRPr i="0" sz="2400" b="1">
                <a:solidFill>
                  <a:srgbClr val="FF4500"/>
                </a:solidFill>
                <a:latin typeface="Arial"/>
              </a:defRPr>
            </a:pPr>
            <a:r>
              <a:rPr i="0" sz="2400" b="1">
                <a:solidFill>
                  <a:srgbClr val="FF4500"/>
                </a:solidFill>
                <a:latin typeface="Arial"/>
              </a:rPr>
              <a:t>POWERED BY SPARK2SCALE AI</a:t>
            </a:r>
          </a:p>
        </p:txBody>
      </p:sp>
      <p:pic>
        <p:nvPicPr>
          <p:cNvPr id="4" name="Picture 3" descr="d1620ad6-c902-406f-b72e-b1d4736a4d65.png"/>
          <p:cNvPicPr>
            <a:picLocks noChangeAspect="1"/>
          </p:cNvPicPr>
          <p:nvPr/>
        </p:nvPicPr>
        <p:blipFill>
          <a:blip r:embed="rId2"/>
          <a:stretch>
            <a:fillRect/>
          </a:stretch>
        </p:blipFill>
        <p:spPr>
          <a:xfrm>
            <a:off x="635000" y="635000"/>
            <a:ext cx="1905000" cy="127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THE FOUNDER'S DILEMMA: LOST IN THE LAUNCH</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Founders drown in uncertainty, struggling to </a:t>
            </a:r>
            <a:r>
              <a:rPr i="0" sz="2800" b="1">
                <a:solidFill>
                  <a:srgbClr val="FF4500"/>
                </a:solidFill>
                <a:latin typeface="Arial"/>
              </a:rPr>
              <a:t>validate ideas</a:t>
            </a:r>
            <a:r>
              <a:rPr i="0" sz="2800" b="0">
                <a:solidFill>
                  <a:srgbClr val="000000"/>
                </a:solidFill>
                <a:latin typeface="Arial"/>
              </a:rPr>
              <a:t> and craft compelling investor pitches.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Current tools are generic, wasting precious </a:t>
            </a:r>
            <a:r>
              <a:rPr i="0" sz="2800" b="1">
                <a:solidFill>
                  <a:srgbClr val="FF4500"/>
                </a:solidFill>
                <a:latin typeface="Arial"/>
              </a:rPr>
              <a:t>time and resources</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found founders lose out due to a lack of structured guidance, impacting over </a:t>
            </a:r>
            <a:r>
              <a:rPr i="0" sz="2800" b="1">
                <a:solidFill>
                  <a:srgbClr val="FF4500"/>
                </a:solidFill>
                <a:latin typeface="Arial"/>
              </a:rPr>
              <a:t>50% of startups</a:t>
            </a:r>
            <a:r>
              <a:rPr i="0" sz="2800" b="0">
                <a:solidFill>
                  <a:srgbClr val="000000"/>
                </a:solidFill>
                <a:latin typeface="Arial"/>
              </a:rPr>
              <a:t> that fail early.</a:t>
            </a:r>
          </a:p>
        </p:txBody>
      </p:sp>
      <p:pic>
        <p:nvPicPr>
          <p:cNvPr id="6" name="Picture 5" descr="e89f41d5-818e-478c-8764-3ca2a943b42c.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TABAANI: YOUR AI CO-PILOT FOR STARTUP SUCCESS</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provide an AI platform that </a:t>
            </a:r>
            <a:r>
              <a:rPr i="0" sz="2800" b="1">
                <a:solidFill>
                  <a:srgbClr val="FF4500"/>
                </a:solidFill>
                <a:latin typeface="Arial"/>
              </a:rPr>
              <a:t>validates your startup idea</a:t>
            </a:r>
            <a:r>
              <a:rPr i="0" sz="2800" b="0">
                <a:solidFill>
                  <a:srgbClr val="000000"/>
                </a:solidFill>
                <a:latin typeface="Arial"/>
              </a:rPr>
              <a:t> and generates investor-ready documents.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Get actionable insights and a clear roadmap, turning confusion into </a:t>
            </a:r>
            <a:r>
              <a:rPr i="0" sz="2800" b="1">
                <a:solidFill>
                  <a:srgbClr val="FF4500"/>
                </a:solidFill>
                <a:latin typeface="Arial"/>
              </a:rPr>
              <a:t>confidence</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specialized AI offers a </a:t>
            </a:r>
            <a:r>
              <a:rPr i="0" sz="2800" b="1">
                <a:solidFill>
                  <a:srgbClr val="FF4500"/>
                </a:solidFill>
                <a:latin typeface="Arial"/>
              </a:rPr>
              <a:t>unique advantage</a:t>
            </a:r>
            <a:r>
              <a:rPr i="0" sz="2800" b="0">
                <a:solidFill>
                  <a:srgbClr val="000000"/>
                </a:solidFill>
                <a:latin typeface="Arial"/>
              </a:rPr>
              <a:t> over generic tools.</a:t>
            </a:r>
          </a:p>
        </p:txBody>
      </p:sp>
      <p:pic>
        <p:nvPicPr>
          <p:cNvPr id="6" name="Picture 5" descr="1bf9e4b6-a749-4eea-b4ea-d235c0f9c234.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A MASSIVE OPPORTUNITY: MENA'S STARTUP ENGINE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Targeting the </a:t>
            </a:r>
            <a:r>
              <a:rPr i="0" sz="2800" b="1">
                <a:solidFill>
                  <a:srgbClr val="FF4500"/>
                </a:solidFill>
                <a:latin typeface="Arial"/>
              </a:rPr>
              <a:t>$500 Million</a:t>
            </a:r>
            <a:r>
              <a:rPr i="0" sz="2800" b="0">
                <a:solidFill>
                  <a:srgbClr val="000000"/>
                </a:solidFill>
                <a:latin typeface="Arial"/>
              </a:rPr>
              <a:t> MENA market for AI startup evaluation tools.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vision scales globally, tapping into a </a:t>
            </a:r>
            <a:r>
              <a:rPr i="0" sz="2800" b="1">
                <a:solidFill>
                  <a:srgbClr val="FF4500"/>
                </a:solidFill>
                <a:latin typeface="Arial"/>
              </a:rPr>
              <a:t>$10 Billion</a:t>
            </a:r>
            <a:r>
              <a:rPr i="0" sz="2800" b="0">
                <a:solidFill>
                  <a:srgbClr val="000000"/>
                </a:solidFill>
                <a:latin typeface="Arial"/>
              </a:rPr>
              <a:t> TAM for AI support.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aim to capture </a:t>
            </a:r>
            <a:r>
              <a:rPr i="0" sz="2800" b="1">
                <a:solidFill>
                  <a:srgbClr val="FF4500"/>
                </a:solidFill>
                <a:latin typeface="Arial"/>
              </a:rPr>
              <a:t>$25 Million</a:t>
            </a:r>
            <a:r>
              <a:rPr i="0" sz="2800" b="0">
                <a:solidFill>
                  <a:srgbClr val="000000"/>
                </a:solidFill>
                <a:latin typeface="Arial"/>
              </a:rPr>
              <a:t> in our initial years.</a:t>
            </a:r>
          </a:p>
        </p:txBody>
      </p:sp>
      <p:pic>
        <p:nvPicPr>
          <p:cNvPr id="6" name="Picture 5" descr="622f6c98-0910-44cd-8d3d-2cce9c96dcca.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VALIDATED NEED: FOUNDERS AGREE!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solution scores a </a:t>
            </a:r>
            <a:r>
              <a:rPr i="0" sz="2800" b="1">
                <a:solidFill>
                  <a:srgbClr val="FF4500"/>
                </a:solidFill>
                <a:latin typeface="Arial"/>
              </a:rPr>
              <a:t>high fit</a:t>
            </a:r>
            <a:r>
              <a:rPr i="0" sz="2800" b="0">
                <a:solidFill>
                  <a:srgbClr val="000000"/>
                </a:solidFill>
                <a:latin typeface="Arial"/>
              </a:rPr>
              <a:t> with founder needs.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 </a:t>
            </a:r>
            <a:r>
              <a:rPr i="0" sz="2800" b="1">
                <a:solidFill>
                  <a:srgbClr val="FF4500"/>
                </a:solidFill>
                <a:latin typeface="Arial"/>
              </a:rPr>
              <a:t>78/100 pain score</a:t>
            </a:r>
            <a:r>
              <a:rPr i="0" sz="2800" b="0">
                <a:solidFill>
                  <a:srgbClr val="000000"/>
                </a:solidFill>
                <a:latin typeface="Arial"/>
              </a:rPr>
              <a:t> confirms the urgent demand for structured validation.</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15+ founders confirmed: current AI tools are </a:t>
            </a:r>
            <a:r>
              <a:rPr i="0" sz="2800" b="1">
                <a:solidFill>
                  <a:srgbClr val="FF4500"/>
                </a:solidFill>
                <a:latin typeface="Arial"/>
              </a:rPr>
              <a:t>too generic</a:t>
            </a:r>
            <a:r>
              <a:rPr i="0" sz="2800" b="0">
                <a:solidFill>
                  <a:srgbClr val="000000"/>
                </a:solidFill>
                <a:latin typeface="Arial"/>
              </a:rPr>
              <a:t>.</a:t>
            </a:r>
          </a:p>
        </p:txBody>
      </p:sp>
      <p:pic>
        <p:nvPicPr>
          <p:cNvPr id="6" name="Picture 5" descr="bfbf9dcc-adce-4a59-93b0-0644cccf797d.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OUR AI: UNIQUE &amp; DEFENSIBLE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leverage </a:t>
            </a:r>
            <a:r>
              <a:rPr i="0" sz="2800" b="1">
                <a:solidFill>
                  <a:srgbClr val="FF4500"/>
                </a:solidFill>
                <a:latin typeface="Arial"/>
              </a:rPr>
              <a:t>proprietary AI algorithms</a:t>
            </a:r>
            <a:r>
              <a:rPr i="0" sz="2800" b="0">
                <a:solidFill>
                  <a:srgbClr val="000000"/>
                </a:solidFill>
                <a:latin typeface="Arial"/>
              </a:rPr>
              <a:t> for startup scoring and document generation.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core stickiness is the </a:t>
            </a:r>
            <a:r>
              <a:rPr i="0" sz="2800" b="1">
                <a:solidFill>
                  <a:srgbClr val="FF4500"/>
                </a:solidFill>
                <a:latin typeface="Arial"/>
              </a:rPr>
              <a:t>AI-driven evaluation report</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Specialized for startup needs, offering </a:t>
            </a:r>
            <a:r>
              <a:rPr i="0" sz="2800" b="1">
                <a:solidFill>
                  <a:srgbClr val="FF4500"/>
                </a:solidFill>
                <a:latin typeface="Arial"/>
              </a:rPr>
              <a:t>sector-focused intelligence</a:t>
            </a:r>
            <a:r>
              <a:rPr i="0" sz="2800" b="0">
                <a:solidFill>
                  <a:srgbClr val="000000"/>
                </a:solidFill>
                <a:latin typeface="Arial"/>
              </a:rPr>
              <a:t>.</a:t>
            </a:r>
          </a:p>
        </p:txBody>
      </p:sp>
      <p:pic>
        <p:nvPicPr>
          <p:cNvPr id="6" name="Picture 5" descr="5ed454a1-d247-4214-afa0-ddbd8dc6ec76.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THE TEAM: DRIVING STARTUP INNOVATION</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Led by Ahmed Hassan (CEO, 5 yrs startup consulting), Mona Ali (CTO, ML expert), and Sara Khaled (COO, 6 yrs ops).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 combined </a:t>
            </a:r>
            <a:r>
              <a:rPr i="0" sz="2800" b="1">
                <a:solidFill>
                  <a:srgbClr val="FF4500"/>
                </a:solidFill>
                <a:latin typeface="Arial"/>
              </a:rPr>
              <a:t>15+ years of experience</a:t>
            </a:r>
            <a:r>
              <a:rPr i="0" sz="2800" b="0">
                <a:solidFill>
                  <a:srgbClr val="000000"/>
                </a:solidFill>
                <a:latin typeface="Arial"/>
              </a:rPr>
              <a:t> in startups, AI, and operations.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Deep understanding of the MENA startup landscape and founder challenges.</a:t>
            </a:r>
          </a:p>
        </p:txBody>
      </p:sp>
      <p:pic>
        <p:nvPicPr>
          <p:cNvPr id="6" name="Picture 5" descr="f671454c-3d88-45c0-91ac-be55a97fc882.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BUSINESS MODEL: SCALABLE &amp; ACCESSIBLE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 </a:t>
            </a:r>
            <a:r>
              <a:rPr i="0" sz="2800" b="1">
                <a:solidFill>
                  <a:srgbClr val="FF4500"/>
                </a:solidFill>
                <a:latin typeface="Arial"/>
              </a:rPr>
              <a:t>Freemium model</a:t>
            </a:r>
            <a:r>
              <a:rPr i="0" sz="2800" b="0">
                <a:solidFill>
                  <a:srgbClr val="000000"/>
                </a:solidFill>
                <a:latin typeface="Arial"/>
              </a:rPr>
              <a:t> to attract and onboard founders.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Average revenue per customer projected at </a:t>
            </a:r>
            <a:r>
              <a:rPr i="0" sz="2800" b="1">
                <a:solidFill>
                  <a:srgbClr val="FF4500"/>
                </a:solidFill>
                <a:latin typeface="Arial"/>
              </a:rPr>
              <a:t>$400</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Monthly burn rate of </a:t>
            </a:r>
            <a:r>
              <a:rPr i="0" sz="2800" b="1">
                <a:solidFill>
                  <a:srgbClr val="FF4500"/>
                </a:solidFill>
                <a:latin typeface="Arial"/>
              </a:rPr>
              <a:t>$120K</a:t>
            </a:r>
            <a:r>
              <a:rPr i="0" sz="2800" b="0">
                <a:solidFill>
                  <a:srgbClr val="000000"/>
                </a:solidFill>
                <a:latin typeface="Arial"/>
              </a:rPr>
              <a:t>, with a runway requiring strategic investment.</a:t>
            </a:r>
          </a:p>
        </p:txBody>
      </p:sp>
      <p:pic>
        <p:nvPicPr>
          <p:cNvPr id="6" name="Picture 5" descr="a8fdaa3c-829e-40eb-bed0-adeea9bccca3.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FFFFF"/>
                </a:solidFill>
                <a:latin typeface="Arial"/>
              </a:defRPr>
            </a:pPr>
            <a:r>
              <a:rPr i="0" sz="5400" b="1">
                <a:solidFill>
                  <a:srgbClr val="FFFFFF"/>
                </a:solidFill>
                <a:latin typeface="Arial"/>
              </a:rPr>
              <a:t>THE ASK: FUELING OUR GROWTH</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are seeking </a:t>
            </a:r>
            <a:r>
              <a:rPr i="0" sz="2800" b="1">
                <a:solidFill>
                  <a:srgbClr val="FF4500"/>
                </a:solidFill>
                <a:latin typeface="Arial"/>
              </a:rPr>
              <a:t>$500,000</a:t>
            </a:r>
            <a:r>
              <a:rPr i="0" sz="2800" b="0">
                <a:solidFill>
                  <a:srgbClr val="000000"/>
                </a:solidFill>
                <a:latin typeface="Arial"/>
              </a:rPr>
              <a:t> in Pre-Seed funding.</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Funds will accelerate </a:t>
            </a:r>
            <a:r>
              <a:rPr i="0" sz="2800" b="1">
                <a:solidFill>
                  <a:srgbClr val="FF4500"/>
                </a:solidFill>
                <a:latin typeface="Arial"/>
              </a:rPr>
              <a:t>AI model development</a:t>
            </a:r>
            <a:r>
              <a:rPr i="0" sz="2800" b="0">
                <a:solidFill>
                  <a:srgbClr val="000000"/>
                </a:solidFill>
                <a:latin typeface="Arial"/>
              </a:rPr>
              <a:t> and </a:t>
            </a:r>
            <a:r>
              <a:rPr i="0" sz="2800" b="1">
                <a:solidFill>
                  <a:srgbClr val="FF4500"/>
                </a:solidFill>
                <a:latin typeface="Arial"/>
              </a:rPr>
              <a:t>customer acquisition</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Join us in empowering the next generation of startups.</a:t>
            </a:r>
          </a:p>
        </p:txBody>
      </p:sp>
      <p:pic>
        <p:nvPicPr>
          <p:cNvPr id="6" name="Picture 5" descr="a450a0be-ced4-4bf2-b704-66490f043c56.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860d7f7e-5b50-426f-a793-bb79f160159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